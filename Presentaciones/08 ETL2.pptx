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512" r:id="rId8"/>
    <p:sldId id="513" r:id="rId9"/>
    <p:sldId id="516" r:id="rId10"/>
    <p:sldId id="514" r:id="rId11"/>
    <p:sldId id="515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22C2AE-A4DC-760D-A692-289602299171}" v="1" dt="2024-10-04T13:34:04.8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ren Hapuc Mercado Rodriguez" userId="S::keren.mercado@upb.edu.co::9807f50a-a10c-46a1-a84f-6909cd1b5c88" providerId="AD" clId="Web-{66B810B7-6B91-46AB-BE23-04AC6FAFA2D3}"/>
    <pc:docChg chg="modSld">
      <pc:chgData name="Keren Hapuc Mercado Rodriguez" userId="S::keren.mercado@upb.edu.co::9807f50a-a10c-46a1-a84f-6909cd1b5c88" providerId="AD" clId="Web-{66B810B7-6B91-46AB-BE23-04AC6FAFA2D3}" dt="2023-10-09T01:09:58.939" v="0" actId="1076"/>
      <pc:docMkLst>
        <pc:docMk/>
      </pc:docMkLst>
      <pc:sldChg chg="modSp">
        <pc:chgData name="Keren Hapuc Mercado Rodriguez" userId="S::keren.mercado@upb.edu.co::9807f50a-a10c-46a1-a84f-6909cd1b5c88" providerId="AD" clId="Web-{66B810B7-6B91-46AB-BE23-04AC6FAFA2D3}" dt="2023-10-09T01:09:58.939" v="0" actId="1076"/>
        <pc:sldMkLst>
          <pc:docMk/>
          <pc:sldMk cId="3420564736" sldId="515"/>
        </pc:sldMkLst>
        <pc:spChg chg="mod">
          <ac:chgData name="Keren Hapuc Mercado Rodriguez" userId="S::keren.mercado@upb.edu.co::9807f50a-a10c-46a1-a84f-6909cd1b5c88" providerId="AD" clId="Web-{66B810B7-6B91-46AB-BE23-04AC6FAFA2D3}" dt="2023-10-09T01:09:58.939" v="0" actId="1076"/>
          <ac:spMkLst>
            <pc:docMk/>
            <pc:sldMk cId="3420564736" sldId="515"/>
            <ac:spMk id="3" creationId="{AEB992D8-6126-DA4D-9D8C-E5A7D48A5ECB}"/>
          </ac:spMkLst>
        </pc:spChg>
      </pc:sldChg>
    </pc:docChg>
  </pc:docChgLst>
  <pc:docChgLst>
    <pc:chgData name="Leonardo Betancur Agudelo" userId="S::leonardo.betancur@upb.edu.co::a3f3de06-0858-4298-8f47-441574265671" providerId="AD" clId="Web-{0D985A7E-DC04-4F90-8654-7039866CEE55}"/>
    <pc:docChg chg="delSld">
      <pc:chgData name="Leonardo Betancur Agudelo" userId="S::leonardo.betancur@upb.edu.co::a3f3de06-0858-4298-8f47-441574265671" providerId="AD" clId="Web-{0D985A7E-DC04-4F90-8654-7039866CEE55}" dt="2024-04-12T12:47:55.076" v="0"/>
      <pc:docMkLst>
        <pc:docMk/>
      </pc:docMkLst>
      <pc:sldChg chg="del">
        <pc:chgData name="Leonardo Betancur Agudelo" userId="S::leonardo.betancur@upb.edu.co::a3f3de06-0858-4298-8f47-441574265671" providerId="AD" clId="Web-{0D985A7E-DC04-4F90-8654-7039866CEE55}" dt="2024-04-12T12:47:55.076" v="0"/>
        <pc:sldMkLst>
          <pc:docMk/>
          <pc:sldMk cId="580889095" sldId="518"/>
        </pc:sldMkLst>
      </pc:sldChg>
    </pc:docChg>
  </pc:docChgLst>
  <pc:docChgLst>
    <pc:chgData name="Jeronimo Aguirre Estrada" userId="S::jeronimo.aguirre@upb.edu.co::a386afa9-0f7f-4a39-929d-14a4efce4e04" providerId="AD" clId="Web-{B022C2AE-A4DC-760D-A692-289602299171}"/>
    <pc:docChg chg="modSld">
      <pc:chgData name="Jeronimo Aguirre Estrada" userId="S::jeronimo.aguirre@upb.edu.co::a386afa9-0f7f-4a39-929d-14a4efce4e04" providerId="AD" clId="Web-{B022C2AE-A4DC-760D-A692-289602299171}" dt="2024-10-04T13:34:04.835" v="0" actId="14100"/>
      <pc:docMkLst>
        <pc:docMk/>
      </pc:docMkLst>
      <pc:sldChg chg="modSp">
        <pc:chgData name="Jeronimo Aguirre Estrada" userId="S::jeronimo.aguirre@upb.edu.co::a386afa9-0f7f-4a39-929d-14a4efce4e04" providerId="AD" clId="Web-{B022C2AE-A4DC-760D-A692-289602299171}" dt="2024-10-04T13:34:04.835" v="0" actId="14100"/>
        <pc:sldMkLst>
          <pc:docMk/>
          <pc:sldMk cId="1558063086" sldId="514"/>
        </pc:sldMkLst>
        <pc:spChg chg="mod">
          <ac:chgData name="Jeronimo Aguirre Estrada" userId="S::jeronimo.aguirre@upb.edu.co::a386afa9-0f7f-4a39-929d-14a4efce4e04" providerId="AD" clId="Web-{B022C2AE-A4DC-760D-A692-289602299171}" dt="2024-10-04T13:34:04.835" v="0" actId="14100"/>
          <ac:spMkLst>
            <pc:docMk/>
            <pc:sldMk cId="1558063086" sldId="514"/>
            <ac:spMk id="3" creationId="{AEB992D8-6126-DA4D-9D8C-E5A7D48A5ECB}"/>
          </ac:spMkLst>
        </pc:spChg>
      </pc:sldChg>
    </pc:docChg>
  </pc:docChgLst>
  <pc:docChgLst>
    <pc:chgData name="Jhon Daniel Gaviria Garcia" userId="S::jhon.gaviria@upb.edu.co::4439ad69-2d8b-475a-8c09-be3d193defa1" providerId="AD" clId="Web-{161D2783-6121-4FDF-B4C7-6B692BA35CB4}"/>
    <pc:docChg chg="modSld">
      <pc:chgData name="Jhon Daniel Gaviria Garcia" userId="S::jhon.gaviria@upb.edu.co::4439ad69-2d8b-475a-8c09-be3d193defa1" providerId="AD" clId="Web-{161D2783-6121-4FDF-B4C7-6B692BA35CB4}" dt="2022-10-20T16:04:07.298" v="0" actId="20577"/>
      <pc:docMkLst>
        <pc:docMk/>
      </pc:docMkLst>
      <pc:sldChg chg="modSp">
        <pc:chgData name="Jhon Daniel Gaviria Garcia" userId="S::jhon.gaviria@upb.edu.co::4439ad69-2d8b-475a-8c09-be3d193defa1" providerId="AD" clId="Web-{161D2783-6121-4FDF-B4C7-6B692BA35CB4}" dt="2022-10-20T16:04:07.298" v="0" actId="20577"/>
        <pc:sldMkLst>
          <pc:docMk/>
          <pc:sldMk cId="1558063086" sldId="514"/>
        </pc:sldMkLst>
        <pc:spChg chg="mod">
          <ac:chgData name="Jhon Daniel Gaviria Garcia" userId="S::jhon.gaviria@upb.edu.co::4439ad69-2d8b-475a-8c09-be3d193defa1" providerId="AD" clId="Web-{161D2783-6121-4FDF-B4C7-6B692BA35CB4}" dt="2022-10-20T16:04:07.298" v="0" actId="20577"/>
          <ac:spMkLst>
            <pc:docMk/>
            <pc:sldMk cId="1558063086" sldId="514"/>
            <ac:spMk id="3" creationId="{AEB992D8-6126-DA4D-9D8C-E5A7D48A5ECB}"/>
          </ac:spMkLst>
        </pc:spChg>
      </pc:sldChg>
    </pc:docChg>
  </pc:docChgLst>
  <pc:docChgLst>
    <pc:chgData name="Leonardo Betancur Agudelo" userId="S::leonardo.betancur@upb.edu.co::a3f3de06-0858-4298-8f47-441574265671" providerId="AD" clId="Web-{B46B2FB7-016D-4F17-84BA-113FC11CF9E4}"/>
    <pc:docChg chg="delSld modSld">
      <pc:chgData name="Leonardo Betancur Agudelo" userId="S::leonardo.betancur@upb.edu.co::a3f3de06-0858-4298-8f47-441574265671" providerId="AD" clId="Web-{B46B2FB7-016D-4F17-84BA-113FC11CF9E4}" dt="2022-04-05T18:36:18.793" v="56"/>
      <pc:docMkLst>
        <pc:docMk/>
      </pc:docMkLst>
      <pc:sldChg chg="modSp">
        <pc:chgData name="Leonardo Betancur Agudelo" userId="S::leonardo.betancur@upb.edu.co::a3f3de06-0858-4298-8f47-441574265671" providerId="AD" clId="Web-{B46B2FB7-016D-4F17-84BA-113FC11CF9E4}" dt="2022-04-05T18:36:07.043" v="55" actId="20577"/>
        <pc:sldMkLst>
          <pc:docMk/>
          <pc:sldMk cId="2364015901" sldId="516"/>
        </pc:sldMkLst>
        <pc:spChg chg="mod">
          <ac:chgData name="Leonardo Betancur Agudelo" userId="S::leonardo.betancur@upb.edu.co::a3f3de06-0858-4298-8f47-441574265671" providerId="AD" clId="Web-{B46B2FB7-016D-4F17-84BA-113FC11CF9E4}" dt="2022-04-05T18:35:25.245" v="0" actId="20577"/>
          <ac:spMkLst>
            <pc:docMk/>
            <pc:sldMk cId="2364015901" sldId="516"/>
            <ac:spMk id="2" creationId="{A2B252AB-3713-114A-9FF7-65221E454CC0}"/>
          </ac:spMkLst>
        </pc:spChg>
        <pc:spChg chg="mod">
          <ac:chgData name="Leonardo Betancur Agudelo" userId="S::leonardo.betancur@upb.edu.co::a3f3de06-0858-4298-8f47-441574265671" providerId="AD" clId="Web-{B46B2FB7-016D-4F17-84BA-113FC11CF9E4}" dt="2022-04-05T18:36:07.043" v="55" actId="20577"/>
          <ac:spMkLst>
            <pc:docMk/>
            <pc:sldMk cId="2364015901" sldId="516"/>
            <ac:spMk id="3" creationId="{08B19992-6333-B14C-ABE0-C5351F4E1B31}"/>
          </ac:spMkLst>
        </pc:spChg>
      </pc:sldChg>
      <pc:sldChg chg="del">
        <pc:chgData name="Leonardo Betancur Agudelo" userId="S::leonardo.betancur@upb.edu.co::a3f3de06-0858-4298-8f47-441574265671" providerId="AD" clId="Web-{B46B2FB7-016D-4F17-84BA-113FC11CF9E4}" dt="2022-04-05T18:36:18.793" v="56"/>
        <pc:sldMkLst>
          <pc:docMk/>
          <pc:sldMk cId="3372443424" sldId="517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24A12D-D83A-42EA-893D-BD8968CD07A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8184D00-58D9-42E4-929E-FDD9A7803EE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CO"/>
            <a:t>Teorico: aplicación del modelo de toma de decisión</a:t>
          </a:r>
          <a:endParaRPr lang="en-US"/>
        </a:p>
      </dgm:t>
    </dgm:pt>
    <dgm:pt modelId="{55D09F8B-E6EF-443C-86BE-8E177783CC9D}" type="parTrans" cxnId="{C1503AAF-C385-4DF1-94C8-FDE289A056A3}">
      <dgm:prSet/>
      <dgm:spPr/>
      <dgm:t>
        <a:bodyPr/>
        <a:lstStyle/>
        <a:p>
          <a:endParaRPr lang="en-US"/>
        </a:p>
      </dgm:t>
    </dgm:pt>
    <dgm:pt modelId="{6A7D19CD-2471-4889-8AA0-ABE06E796E2E}" type="sibTrans" cxnId="{C1503AAF-C385-4DF1-94C8-FDE289A056A3}">
      <dgm:prSet/>
      <dgm:spPr/>
      <dgm:t>
        <a:bodyPr/>
        <a:lstStyle/>
        <a:p>
          <a:endParaRPr lang="en-US"/>
        </a:p>
      </dgm:t>
    </dgm:pt>
    <dgm:pt modelId="{5AC45222-430D-4B61-9A59-CFC7A696060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CO"/>
            <a:t>Práctico: ASESORÍA PERSONALIZADA EN LA solución del ejemplo de p2.5 M en medellín</a:t>
          </a:r>
          <a:endParaRPr lang="en-US"/>
        </a:p>
      </dgm:t>
    </dgm:pt>
    <dgm:pt modelId="{D3F9A38B-51D2-49F2-BCD4-96D7FBBE72A0}" type="parTrans" cxnId="{2E2A1651-00AA-4188-B9E2-3028A9416C6E}">
      <dgm:prSet/>
      <dgm:spPr/>
      <dgm:t>
        <a:bodyPr/>
        <a:lstStyle/>
        <a:p>
          <a:endParaRPr lang="en-US"/>
        </a:p>
      </dgm:t>
    </dgm:pt>
    <dgm:pt modelId="{A2A40F53-FF50-4301-B7CA-307FD25C2E5C}" type="sibTrans" cxnId="{2E2A1651-00AA-4188-B9E2-3028A9416C6E}">
      <dgm:prSet/>
      <dgm:spPr/>
      <dgm:t>
        <a:bodyPr/>
        <a:lstStyle/>
        <a:p>
          <a:endParaRPr lang="en-US"/>
        </a:p>
      </dgm:t>
    </dgm:pt>
    <dgm:pt modelId="{C5216B9D-3087-405C-BE30-2E3EC6C9C9D7}" type="pres">
      <dgm:prSet presAssocID="{2A24A12D-D83A-42EA-893D-BD8968CD07AE}" presName="root" presStyleCnt="0">
        <dgm:presLayoutVars>
          <dgm:dir/>
          <dgm:resizeHandles val="exact"/>
        </dgm:presLayoutVars>
      </dgm:prSet>
      <dgm:spPr/>
    </dgm:pt>
    <dgm:pt modelId="{61ACC2D8-D941-4F24-87F9-86043CB78EFC}" type="pres">
      <dgm:prSet presAssocID="{58184D00-58D9-42E4-929E-FDD9A7803EEF}" presName="compNode" presStyleCnt="0"/>
      <dgm:spPr/>
    </dgm:pt>
    <dgm:pt modelId="{C240A140-3357-42CF-8681-288676C9C93E}" type="pres">
      <dgm:prSet presAssocID="{58184D00-58D9-42E4-929E-FDD9A7803EEF}" presName="iconBgRect" presStyleLbl="bgShp" presStyleIdx="0" presStyleCnt="2"/>
      <dgm:spPr/>
    </dgm:pt>
    <dgm:pt modelId="{835CA930-52E1-4343-9A8B-797607A8504B}" type="pres">
      <dgm:prSet presAssocID="{58184D00-58D9-42E4-929E-FDD9A7803EE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5DB7C62F-0E1F-46BB-80F1-C3C6D7D4F32C}" type="pres">
      <dgm:prSet presAssocID="{58184D00-58D9-42E4-929E-FDD9A7803EEF}" presName="spaceRect" presStyleCnt="0"/>
      <dgm:spPr/>
    </dgm:pt>
    <dgm:pt modelId="{D83B8F7B-D061-457B-9FEB-53A0FEC6C04C}" type="pres">
      <dgm:prSet presAssocID="{58184D00-58D9-42E4-929E-FDD9A7803EEF}" presName="textRect" presStyleLbl="revTx" presStyleIdx="0" presStyleCnt="2">
        <dgm:presLayoutVars>
          <dgm:chMax val="1"/>
          <dgm:chPref val="1"/>
        </dgm:presLayoutVars>
      </dgm:prSet>
      <dgm:spPr/>
    </dgm:pt>
    <dgm:pt modelId="{D2BB7C0D-6CBC-4676-8530-5BBE6B7088E9}" type="pres">
      <dgm:prSet presAssocID="{6A7D19CD-2471-4889-8AA0-ABE06E796E2E}" presName="sibTrans" presStyleCnt="0"/>
      <dgm:spPr/>
    </dgm:pt>
    <dgm:pt modelId="{71A991A1-448C-442D-9E77-B1953839E530}" type="pres">
      <dgm:prSet presAssocID="{5AC45222-430D-4B61-9A59-CFC7A696060E}" presName="compNode" presStyleCnt="0"/>
      <dgm:spPr/>
    </dgm:pt>
    <dgm:pt modelId="{127C34D9-9982-427A-9007-D605C6B43FD7}" type="pres">
      <dgm:prSet presAssocID="{5AC45222-430D-4B61-9A59-CFC7A696060E}" presName="iconBgRect" presStyleLbl="bgShp" presStyleIdx="1" presStyleCnt="2"/>
      <dgm:spPr/>
    </dgm:pt>
    <dgm:pt modelId="{D18B46C6-681C-4831-B253-53D668FCF12C}" type="pres">
      <dgm:prSet presAssocID="{5AC45222-430D-4B61-9A59-CFC7A696060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5D0CD8D6-F753-480F-AF1E-0C730DA768D0}" type="pres">
      <dgm:prSet presAssocID="{5AC45222-430D-4B61-9A59-CFC7A696060E}" presName="spaceRect" presStyleCnt="0"/>
      <dgm:spPr/>
    </dgm:pt>
    <dgm:pt modelId="{DAAB6E77-1AAF-4EA6-8A84-4DCF7366FE7D}" type="pres">
      <dgm:prSet presAssocID="{5AC45222-430D-4B61-9A59-CFC7A696060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781330D-A9BC-49E4-A9EC-A24A8A2CD276}" type="presOf" srcId="{2A24A12D-D83A-42EA-893D-BD8968CD07AE}" destId="{C5216B9D-3087-405C-BE30-2E3EC6C9C9D7}" srcOrd="0" destOrd="0" presId="urn:microsoft.com/office/officeart/2018/5/layout/IconCircleLabelList"/>
    <dgm:cxn modelId="{2E2A1651-00AA-4188-B9E2-3028A9416C6E}" srcId="{2A24A12D-D83A-42EA-893D-BD8968CD07AE}" destId="{5AC45222-430D-4B61-9A59-CFC7A696060E}" srcOrd="1" destOrd="0" parTransId="{D3F9A38B-51D2-49F2-BCD4-96D7FBBE72A0}" sibTransId="{A2A40F53-FF50-4301-B7CA-307FD25C2E5C}"/>
    <dgm:cxn modelId="{C1503AAF-C385-4DF1-94C8-FDE289A056A3}" srcId="{2A24A12D-D83A-42EA-893D-BD8968CD07AE}" destId="{58184D00-58D9-42E4-929E-FDD9A7803EEF}" srcOrd="0" destOrd="0" parTransId="{55D09F8B-E6EF-443C-86BE-8E177783CC9D}" sibTransId="{6A7D19CD-2471-4889-8AA0-ABE06E796E2E}"/>
    <dgm:cxn modelId="{DBB6E5CF-F984-470E-B389-C7A245583594}" type="presOf" srcId="{58184D00-58D9-42E4-929E-FDD9A7803EEF}" destId="{D83B8F7B-D061-457B-9FEB-53A0FEC6C04C}" srcOrd="0" destOrd="0" presId="urn:microsoft.com/office/officeart/2018/5/layout/IconCircleLabelList"/>
    <dgm:cxn modelId="{7CA979F8-FDAD-499D-8C3E-5CB548DCBDA9}" type="presOf" srcId="{5AC45222-430D-4B61-9A59-CFC7A696060E}" destId="{DAAB6E77-1AAF-4EA6-8A84-4DCF7366FE7D}" srcOrd="0" destOrd="0" presId="urn:microsoft.com/office/officeart/2018/5/layout/IconCircleLabelList"/>
    <dgm:cxn modelId="{ED44DD4D-6351-4215-A34D-CA1111424A50}" type="presParOf" srcId="{C5216B9D-3087-405C-BE30-2E3EC6C9C9D7}" destId="{61ACC2D8-D941-4F24-87F9-86043CB78EFC}" srcOrd="0" destOrd="0" presId="urn:microsoft.com/office/officeart/2018/5/layout/IconCircleLabelList"/>
    <dgm:cxn modelId="{671BB003-EACE-490E-B8E9-1890AC31C601}" type="presParOf" srcId="{61ACC2D8-D941-4F24-87F9-86043CB78EFC}" destId="{C240A140-3357-42CF-8681-288676C9C93E}" srcOrd="0" destOrd="0" presId="urn:microsoft.com/office/officeart/2018/5/layout/IconCircleLabelList"/>
    <dgm:cxn modelId="{90A2B0B5-A358-4C1C-A915-1FA748DA4A11}" type="presParOf" srcId="{61ACC2D8-D941-4F24-87F9-86043CB78EFC}" destId="{835CA930-52E1-4343-9A8B-797607A8504B}" srcOrd="1" destOrd="0" presId="urn:microsoft.com/office/officeart/2018/5/layout/IconCircleLabelList"/>
    <dgm:cxn modelId="{F1780FB4-9676-4F10-BE86-9C1E1D8CF9EE}" type="presParOf" srcId="{61ACC2D8-D941-4F24-87F9-86043CB78EFC}" destId="{5DB7C62F-0E1F-46BB-80F1-C3C6D7D4F32C}" srcOrd="2" destOrd="0" presId="urn:microsoft.com/office/officeart/2018/5/layout/IconCircleLabelList"/>
    <dgm:cxn modelId="{5BFC707F-CA22-44BD-B68A-73B62E5E20F7}" type="presParOf" srcId="{61ACC2D8-D941-4F24-87F9-86043CB78EFC}" destId="{D83B8F7B-D061-457B-9FEB-53A0FEC6C04C}" srcOrd="3" destOrd="0" presId="urn:microsoft.com/office/officeart/2018/5/layout/IconCircleLabelList"/>
    <dgm:cxn modelId="{8F16BD7F-BECE-4F86-B33F-F6B8784964D4}" type="presParOf" srcId="{C5216B9D-3087-405C-BE30-2E3EC6C9C9D7}" destId="{D2BB7C0D-6CBC-4676-8530-5BBE6B7088E9}" srcOrd="1" destOrd="0" presId="urn:microsoft.com/office/officeart/2018/5/layout/IconCircleLabelList"/>
    <dgm:cxn modelId="{FEAE3E04-25BF-4757-9BBE-B5A6A9B52E3B}" type="presParOf" srcId="{C5216B9D-3087-405C-BE30-2E3EC6C9C9D7}" destId="{71A991A1-448C-442D-9E77-B1953839E530}" srcOrd="2" destOrd="0" presId="urn:microsoft.com/office/officeart/2018/5/layout/IconCircleLabelList"/>
    <dgm:cxn modelId="{BB984842-8167-433C-AE55-10FA9A6CB75B}" type="presParOf" srcId="{71A991A1-448C-442D-9E77-B1953839E530}" destId="{127C34D9-9982-427A-9007-D605C6B43FD7}" srcOrd="0" destOrd="0" presId="urn:microsoft.com/office/officeart/2018/5/layout/IconCircleLabelList"/>
    <dgm:cxn modelId="{8C7D4F92-FE5F-493D-92DF-23434F6C0292}" type="presParOf" srcId="{71A991A1-448C-442D-9E77-B1953839E530}" destId="{D18B46C6-681C-4831-B253-53D668FCF12C}" srcOrd="1" destOrd="0" presId="urn:microsoft.com/office/officeart/2018/5/layout/IconCircleLabelList"/>
    <dgm:cxn modelId="{67557549-4444-4C9C-B03E-E9910F547027}" type="presParOf" srcId="{71A991A1-448C-442D-9E77-B1953839E530}" destId="{5D0CD8D6-F753-480F-AF1E-0C730DA768D0}" srcOrd="2" destOrd="0" presId="urn:microsoft.com/office/officeart/2018/5/layout/IconCircleLabelList"/>
    <dgm:cxn modelId="{D17F2A09-A0BB-4EE2-942C-C85E2D944705}" type="presParOf" srcId="{71A991A1-448C-442D-9E77-B1953839E530}" destId="{DAAB6E77-1AAF-4EA6-8A84-4DCF7366FE7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40A140-3357-42CF-8681-288676C9C93E}">
      <dsp:nvSpPr>
        <dsp:cNvPr id="0" name=""/>
        <dsp:cNvSpPr/>
      </dsp:nvSpPr>
      <dsp:spPr>
        <a:xfrm>
          <a:off x="2044800" y="375668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5CA930-52E1-4343-9A8B-797607A8504B}">
      <dsp:nvSpPr>
        <dsp:cNvPr id="0" name=""/>
        <dsp:cNvSpPr/>
      </dsp:nvSpPr>
      <dsp:spPr>
        <a:xfrm>
          <a:off x="251280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3B8F7B-D061-457B-9FEB-53A0FEC6C04C}">
      <dsp:nvSpPr>
        <dsp:cNvPr id="0" name=""/>
        <dsp:cNvSpPr/>
      </dsp:nvSpPr>
      <dsp:spPr>
        <a:xfrm>
          <a:off x="134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O" sz="1500" kern="1200"/>
            <a:t>Teorico: aplicación del modelo de toma de decisión</a:t>
          </a:r>
          <a:endParaRPr lang="en-US" sz="1500" kern="1200"/>
        </a:p>
      </dsp:txBody>
      <dsp:txXfrm>
        <a:off x="1342800" y="3255669"/>
        <a:ext cx="3600000" cy="720000"/>
      </dsp:txXfrm>
    </dsp:sp>
    <dsp:sp modelId="{127C34D9-9982-427A-9007-D605C6B43FD7}">
      <dsp:nvSpPr>
        <dsp:cNvPr id="0" name=""/>
        <dsp:cNvSpPr/>
      </dsp:nvSpPr>
      <dsp:spPr>
        <a:xfrm>
          <a:off x="6274800" y="375668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8B46C6-681C-4831-B253-53D668FCF12C}">
      <dsp:nvSpPr>
        <dsp:cNvPr id="0" name=""/>
        <dsp:cNvSpPr/>
      </dsp:nvSpPr>
      <dsp:spPr>
        <a:xfrm>
          <a:off x="674280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AB6E77-1AAF-4EA6-8A84-4DCF7366FE7D}">
      <dsp:nvSpPr>
        <dsp:cNvPr id="0" name=""/>
        <dsp:cNvSpPr/>
      </dsp:nvSpPr>
      <dsp:spPr>
        <a:xfrm>
          <a:off x="557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O" sz="1500" kern="1200"/>
            <a:t>Práctico: ASESORÍA PERSONALIZADA EN LA solución del ejemplo de p2.5 M en medellín</a:t>
          </a:r>
          <a:endParaRPr lang="en-US" sz="1500" kern="1200"/>
        </a:p>
      </dsp:txBody>
      <dsp:txXfrm>
        <a:off x="5572800" y="3255669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EBA86-026D-F943-90AB-39DAFC09CD31}" type="datetimeFigureOut">
              <a:rPr lang="es-CO" smtClean="0"/>
              <a:t>4/10/2024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28D847-AA89-4443-87F1-6FE2A0BD61F5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5961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8D847-AA89-4443-87F1-6FE2A0BD61F5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5156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5AD2C6-A134-CC46-BDA8-9BEA686620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AD0FC7-7967-324A-8995-0AEEA4B07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08105A-4B90-2B49-9F9E-0B6E4321D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4/10/2024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C6A0F9-7D76-AE4A-BD94-B389A6603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5C78CA-E0EC-2D4E-9DFA-FDA48D63A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0535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D74092-77A1-564B-925B-EAD7E6304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655A9F-D451-594C-BFB3-49B1E0B2F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42E473-48C4-9248-9964-C491BFE1B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4/10/2024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9C6647-047B-A949-9C31-BE54AA886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3C5861-FE60-B948-A752-C195D5B30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78150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C224D0-1D1B-C84A-BDE0-AF7B0F952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1A9CE8-020B-384A-8DEA-12F6CCC0D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CFACAB-A3C0-8F49-B15C-972B48D62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4/10/2024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86DDC8-A68A-3342-842E-C94606A2F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B8E5E7-6999-9F4C-8848-01B962AC6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4538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55B17E-4FF7-5C41-942A-AA145D540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CE7375-7E95-5443-8B41-1722753AA3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DAC5EFE-6089-A443-AAF4-3CE3ED568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4CB81A-6486-3A40-B823-89499B6B6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4/10/2024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AE2164-7768-994F-8C29-56AC51B72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1C7AD69-DA92-9340-B13D-A431DD02E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21187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96561-2F0F-F145-8B23-5EEC6B54A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BFA112-DD57-3548-BA31-4F45A7315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01AB20-3A30-D44F-A943-4A46D553CA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E22BA67-6EDA-8344-AE6E-991A3D1E04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347D17E-DE33-4F4A-8CB1-053926E623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106535F-25FE-0248-B538-AFEDEF0AA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4/10/2024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02F988E-7893-6343-A594-BE81B10B1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1C67B35-3383-B24F-BEB1-5BAC2FDE5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92395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3864A6-EAD6-EE4C-93B3-8A36D16C1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8B91A45-4318-6C44-9C00-0C71EA0A2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4/10/2024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FFA695F-B662-5246-8DE2-C00151C89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E1D2ED2-3B9E-634B-94F6-BE2A4F662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44608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1D67533-E0A4-744C-8E82-8373E04E9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4/10/2024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ADB42D-BEE7-4D44-87AD-9BF7A1E39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7AE92E-8CDA-C744-9244-65A5C2FBF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53935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EE34B4-9424-DC40-BCAE-F8613BFF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B64650-150E-BD41-A228-6E2669010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A4395CA-F832-D942-BCA2-F68D027C1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2C69D17-7CE4-1448-9F52-EEFAF612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4/10/2024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10FC78-E822-4045-BF6E-19E8954C5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87E2A98-C5E3-AB4E-AD04-8E02966AE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723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3DAFD0-7F39-CC44-A4FF-4E56548F5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10B9917-3109-4342-BA0A-2BF3FCCE2C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1CC8463-AE53-BE42-ABE0-441C7F95BA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57ADBC-B3C9-AD48-88C0-D054ED1A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4/10/2024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D3B865-D0BF-0E41-A969-6EB230EF4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165190-ABED-C24C-BBA2-860293CB5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8355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8449F-A960-6B46-AFF7-2CCF2D133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CA9BD0E-B03B-7E4E-95A8-FF1FB845F9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E3907C-E2EE-A84D-B2C4-49557D0C4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4/10/2024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F76E91-9B11-CD47-BA45-DC541A9A2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FD8A03-A44D-574A-808C-101B411D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13109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DA0C3A4-6870-7348-801D-BBC82BE718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86EDEF0-23E4-424B-92B4-93CA951D4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BBA314-FE1B-7E49-AA1F-23D788201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4/10/2024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C1D6EB-76C7-2C4C-8CFE-DD5C98AE3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86D8E4-435E-B148-B4D0-A236E048C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3737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F6A2FB1-849F-E444-BBA8-595FD1456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D03DF9-ED89-F441-BDAF-83FF1615D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F1EDBA-03F8-B347-8FF3-ECAC09FE46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D523F-F28B-8D45-A82B-DA9B1B440939}" type="datetimeFigureOut">
              <a:rPr lang="es-CO" smtClean="0"/>
              <a:t>4/10/2024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75B3D9-8F05-B54B-9C11-CB4AD0DCDD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73DDBA-ABE2-ED4E-B6F0-219084577C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3936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18" Type="http://schemas.openxmlformats.org/officeDocument/2006/relationships/image" Target="../media/image19.png"/><Relationship Id="rId3" Type="http://schemas.openxmlformats.org/officeDocument/2006/relationships/image" Target="../media/image6.svg"/><Relationship Id="rId21" Type="http://schemas.openxmlformats.org/officeDocument/2006/relationships/image" Target="../media/image22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17" Type="http://schemas.openxmlformats.org/officeDocument/2006/relationships/image" Target="../media/image4.svg"/><Relationship Id="rId2" Type="http://schemas.openxmlformats.org/officeDocument/2006/relationships/image" Target="../media/image5.png"/><Relationship Id="rId16" Type="http://schemas.openxmlformats.org/officeDocument/2006/relationships/image" Target="../media/image3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5" Type="http://schemas.openxmlformats.org/officeDocument/2006/relationships/image" Target="../media/image18.svg"/><Relationship Id="rId10" Type="http://schemas.openxmlformats.org/officeDocument/2006/relationships/image" Target="../media/image13.png"/><Relationship Id="rId19" Type="http://schemas.openxmlformats.org/officeDocument/2006/relationships/image" Target="../media/image20.sv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pa.gov/sites/production/files/2014-05/documents/zell-aqi.pdf" TargetMode="External"/><Relationship Id="rId2" Type="http://schemas.openxmlformats.org/officeDocument/2006/relationships/hyperlink" Target="https://forum.airnowtech.org/t/aqi-calculations-overview-ozone-pm2-5-and-pm10/16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A2AA33-D5C1-4C2E-BAA5-2AAF0E63EF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57E063-AC92-4DBF-9A8C-429C5E2F2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41494"/>
            <a:ext cx="12192000" cy="4316506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FC90C7F-C82F-4383-8E86-8F056BBA8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17027" y="-378827"/>
            <a:ext cx="6858000" cy="7615655"/>
          </a:xfrm>
          <a:custGeom>
            <a:avLst/>
            <a:gdLst>
              <a:gd name="connsiteX0" fmla="*/ 0 w 6858000"/>
              <a:gd name="connsiteY0" fmla="*/ 7615655 h 7615655"/>
              <a:gd name="connsiteX1" fmla="*/ 0 w 6858000"/>
              <a:gd name="connsiteY1" fmla="*/ 7533862 h 7615655"/>
              <a:gd name="connsiteX2" fmla="*/ 1092812 w 6858000"/>
              <a:gd name="connsiteY2" fmla="*/ 7533862 h 7615655"/>
              <a:gd name="connsiteX3" fmla="*/ 1092812 w 6858000"/>
              <a:gd name="connsiteY3" fmla="*/ 81793 h 7615655"/>
              <a:gd name="connsiteX4" fmla="*/ 0 w 6858000"/>
              <a:gd name="connsiteY4" fmla="*/ 81793 h 7615655"/>
              <a:gd name="connsiteX5" fmla="*/ 0 w 6858000"/>
              <a:gd name="connsiteY5" fmla="*/ 0 h 7615655"/>
              <a:gd name="connsiteX6" fmla="*/ 1092812 w 6858000"/>
              <a:gd name="connsiteY6" fmla="*/ 0 h 7615655"/>
              <a:gd name="connsiteX7" fmla="*/ 5779244 w 6858000"/>
              <a:gd name="connsiteY7" fmla="*/ 0 h 7615655"/>
              <a:gd name="connsiteX8" fmla="*/ 6858000 w 6858000"/>
              <a:gd name="connsiteY8" fmla="*/ 0 h 7615655"/>
              <a:gd name="connsiteX9" fmla="*/ 6858000 w 6858000"/>
              <a:gd name="connsiteY9" fmla="*/ 81793 h 7615655"/>
              <a:gd name="connsiteX10" fmla="*/ 5779244 w 6858000"/>
              <a:gd name="connsiteY10" fmla="*/ 81793 h 7615655"/>
              <a:gd name="connsiteX11" fmla="*/ 5779244 w 6858000"/>
              <a:gd name="connsiteY11" fmla="*/ 7533862 h 7615655"/>
              <a:gd name="connsiteX12" fmla="*/ 6858000 w 6858000"/>
              <a:gd name="connsiteY12" fmla="*/ 7533862 h 7615655"/>
              <a:gd name="connsiteX13" fmla="*/ 6858000 w 6858000"/>
              <a:gd name="connsiteY13" fmla="*/ 7615655 h 7615655"/>
              <a:gd name="connsiteX14" fmla="*/ 5779244 w 6858000"/>
              <a:gd name="connsiteY14" fmla="*/ 7615655 h 7615655"/>
              <a:gd name="connsiteX15" fmla="*/ 1092812 w 6858000"/>
              <a:gd name="connsiteY15" fmla="*/ 7615655 h 7615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8000" h="7615655">
                <a:moveTo>
                  <a:pt x="0" y="7615655"/>
                </a:moveTo>
                <a:lnTo>
                  <a:pt x="0" y="7533862"/>
                </a:lnTo>
                <a:lnTo>
                  <a:pt x="1092812" y="7533862"/>
                </a:lnTo>
                <a:lnTo>
                  <a:pt x="1092812" y="81793"/>
                </a:lnTo>
                <a:lnTo>
                  <a:pt x="0" y="81793"/>
                </a:lnTo>
                <a:lnTo>
                  <a:pt x="0" y="0"/>
                </a:lnTo>
                <a:lnTo>
                  <a:pt x="1092812" y="0"/>
                </a:lnTo>
                <a:lnTo>
                  <a:pt x="5779244" y="0"/>
                </a:lnTo>
                <a:lnTo>
                  <a:pt x="6858000" y="0"/>
                </a:lnTo>
                <a:lnTo>
                  <a:pt x="6858000" y="81793"/>
                </a:lnTo>
                <a:lnTo>
                  <a:pt x="5779244" y="81793"/>
                </a:lnTo>
                <a:lnTo>
                  <a:pt x="5779244" y="7533862"/>
                </a:lnTo>
                <a:lnTo>
                  <a:pt x="6858000" y="7533862"/>
                </a:lnTo>
                <a:lnTo>
                  <a:pt x="6858000" y="7615655"/>
                </a:lnTo>
                <a:lnTo>
                  <a:pt x="5779244" y="7615655"/>
                </a:lnTo>
                <a:lnTo>
                  <a:pt x="1092812" y="7615655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32908CD-676C-4648-B018-5E2445430F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6401" y="2043953"/>
            <a:ext cx="5780846" cy="1765198"/>
          </a:xfrm>
        </p:spPr>
        <p:txBody>
          <a:bodyPr>
            <a:normAutofit/>
          </a:bodyPr>
          <a:lstStyle/>
          <a:p>
            <a:r>
              <a:rPr lang="es-CO" sz="3200">
                <a:solidFill>
                  <a:schemeClr val="bg1"/>
                </a:solidFill>
              </a:rPr>
              <a:t>ETL2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A30F8F-7097-C442-9DB6-816F216EA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6401" y="3901226"/>
            <a:ext cx="5780846" cy="1020397"/>
          </a:xfrm>
        </p:spPr>
        <p:txBody>
          <a:bodyPr>
            <a:normAutofit/>
          </a:bodyPr>
          <a:lstStyle/>
          <a:p>
            <a:r>
              <a:rPr lang="es-CO" sz="1600">
                <a:solidFill>
                  <a:schemeClr val="bg1"/>
                </a:solidFill>
              </a:rPr>
              <a:t>INTERNET DE LAS COSAS</a:t>
            </a:r>
          </a:p>
        </p:txBody>
      </p:sp>
    </p:spTree>
    <p:extLst>
      <p:ext uri="{BB962C8B-B14F-4D97-AF65-F5344CB8AC3E}">
        <p14:creationId xmlns:p14="http://schemas.microsoft.com/office/powerpoint/2010/main" val="3137770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8DC77C-1F3A-0C48-A9C4-D5D768AC3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sz="2800"/>
              <a:t>Temas de hoy</a:t>
            </a:r>
          </a:p>
        </p:txBody>
      </p:sp>
      <p:graphicFrame>
        <p:nvGraphicFramePr>
          <p:cNvPr id="18" name="Marcador de contenido 2">
            <a:extLst>
              <a:ext uri="{FF2B5EF4-FFF2-40B4-BE49-F238E27FC236}">
                <a16:creationId xmlns:a16="http://schemas.microsoft.com/office/drawing/2014/main" id="{71AD6A0A-4C89-45E5-A309-A67535C95E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123142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0312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ángulo redondeado 35">
            <a:extLst>
              <a:ext uri="{FF2B5EF4-FFF2-40B4-BE49-F238E27FC236}">
                <a16:creationId xmlns:a16="http://schemas.microsoft.com/office/drawing/2014/main" id="{E34A9807-989C-6349-A47B-6BE96B4C8492}"/>
              </a:ext>
            </a:extLst>
          </p:cNvPr>
          <p:cNvSpPr/>
          <p:nvPr/>
        </p:nvSpPr>
        <p:spPr>
          <a:xfrm>
            <a:off x="4808063" y="1247553"/>
            <a:ext cx="4767818" cy="52006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78DC77C-1F3A-0C48-A9C4-D5D768AC3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ARQUITECTURA</a:t>
            </a:r>
          </a:p>
        </p:txBody>
      </p:sp>
      <p:pic>
        <p:nvPicPr>
          <p:cNvPr id="6" name="Gráfico 5" descr="Gráfico de barras">
            <a:extLst>
              <a:ext uri="{FF2B5EF4-FFF2-40B4-BE49-F238E27FC236}">
                <a16:creationId xmlns:a16="http://schemas.microsoft.com/office/drawing/2014/main" id="{9DBD1E86-793E-264E-9BA5-69A7428EDE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44558" y="2743786"/>
            <a:ext cx="914400" cy="914400"/>
          </a:xfrm>
          <a:prstGeom prst="rect">
            <a:avLst/>
          </a:prstGeom>
        </p:spPr>
      </p:pic>
      <p:pic>
        <p:nvPicPr>
          <p:cNvPr id="8" name="Gráfico 7" descr="Engranajes">
            <a:extLst>
              <a:ext uri="{FF2B5EF4-FFF2-40B4-BE49-F238E27FC236}">
                <a16:creationId xmlns:a16="http://schemas.microsoft.com/office/drawing/2014/main" id="{EED87588-E840-8A43-80EE-5B60EEF940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41880" y="4188125"/>
            <a:ext cx="914400" cy="914400"/>
          </a:xfrm>
          <a:prstGeom prst="rect">
            <a:avLst/>
          </a:prstGeom>
        </p:spPr>
      </p:pic>
      <p:pic>
        <p:nvPicPr>
          <p:cNvPr id="10" name="Gráfico 9" descr="Base de datos">
            <a:extLst>
              <a:ext uri="{FF2B5EF4-FFF2-40B4-BE49-F238E27FC236}">
                <a16:creationId xmlns:a16="http://schemas.microsoft.com/office/drawing/2014/main" id="{DA85E6F6-F4AE-F540-814F-A72F14C818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55391" y="2918852"/>
            <a:ext cx="914400" cy="914400"/>
          </a:xfrm>
          <a:prstGeom prst="rect">
            <a:avLst/>
          </a:prstGeom>
        </p:spPr>
      </p:pic>
      <p:pic>
        <p:nvPicPr>
          <p:cNvPr id="12" name="Gráfico 11" descr="Grupo">
            <a:extLst>
              <a:ext uri="{FF2B5EF4-FFF2-40B4-BE49-F238E27FC236}">
                <a16:creationId xmlns:a16="http://schemas.microsoft.com/office/drawing/2014/main" id="{041E884C-AA92-734B-8FC9-5BA1B8C25E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91837" y="4900903"/>
            <a:ext cx="914400" cy="914400"/>
          </a:xfrm>
          <a:prstGeom prst="rect">
            <a:avLst/>
          </a:prstGeom>
        </p:spPr>
      </p:pic>
      <p:pic>
        <p:nvPicPr>
          <p:cNvPr id="16" name="Gráfico 15" descr="Nube sincronizándose">
            <a:extLst>
              <a:ext uri="{FF2B5EF4-FFF2-40B4-BE49-F238E27FC236}">
                <a16:creationId xmlns:a16="http://schemas.microsoft.com/office/drawing/2014/main" id="{B1782035-7F12-C44C-BA49-C00F2FC2B66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31212" y="838339"/>
            <a:ext cx="2438400" cy="2438400"/>
          </a:xfrm>
          <a:prstGeom prst="rect">
            <a:avLst/>
          </a:prstGeom>
        </p:spPr>
      </p:pic>
      <p:pic>
        <p:nvPicPr>
          <p:cNvPr id="20" name="Gráfico 19" descr="Ordenador">
            <a:extLst>
              <a:ext uri="{FF2B5EF4-FFF2-40B4-BE49-F238E27FC236}">
                <a16:creationId xmlns:a16="http://schemas.microsoft.com/office/drawing/2014/main" id="{A60FECEF-D400-6E47-A231-0F69E4B5493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918748" y="2697845"/>
            <a:ext cx="914400" cy="914400"/>
          </a:xfrm>
          <a:prstGeom prst="rect">
            <a:avLst/>
          </a:prstGeom>
        </p:spPr>
      </p:pic>
      <p:pic>
        <p:nvPicPr>
          <p:cNvPr id="22" name="Gráfico 21" descr="Smartphone">
            <a:extLst>
              <a:ext uri="{FF2B5EF4-FFF2-40B4-BE49-F238E27FC236}">
                <a16:creationId xmlns:a16="http://schemas.microsoft.com/office/drawing/2014/main" id="{9BE6D975-1A6F-604C-BC19-B9CAAE5C60E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877594" y="3767894"/>
            <a:ext cx="914400" cy="914400"/>
          </a:xfrm>
          <a:prstGeom prst="rect">
            <a:avLst/>
          </a:prstGeom>
        </p:spPr>
      </p:pic>
      <p:pic>
        <p:nvPicPr>
          <p:cNvPr id="24" name="Gráfico 23" descr="Servidor">
            <a:extLst>
              <a:ext uri="{FF2B5EF4-FFF2-40B4-BE49-F238E27FC236}">
                <a16:creationId xmlns:a16="http://schemas.microsoft.com/office/drawing/2014/main" id="{3237DF04-9C47-3B4A-8BC6-D7992BEBE43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717403" y="4224051"/>
            <a:ext cx="914400" cy="914400"/>
          </a:xfrm>
          <a:prstGeom prst="rect">
            <a:avLst/>
          </a:prstGeom>
        </p:spPr>
      </p:pic>
      <p:pic>
        <p:nvPicPr>
          <p:cNvPr id="26" name="Gráfico 25" descr="Enrutador inalámbrico">
            <a:extLst>
              <a:ext uri="{FF2B5EF4-FFF2-40B4-BE49-F238E27FC236}">
                <a16:creationId xmlns:a16="http://schemas.microsoft.com/office/drawing/2014/main" id="{52C3FC85-BA32-E644-9CD6-58B3ECC0444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638341" y="4121737"/>
            <a:ext cx="914400" cy="914400"/>
          </a:xfrm>
          <a:prstGeom prst="rect">
            <a:avLst/>
          </a:prstGeom>
        </p:spPr>
      </p:pic>
      <p:pic>
        <p:nvPicPr>
          <p:cNvPr id="28" name="Gráfico 27" descr="Torre de telecomunicaciones">
            <a:extLst>
              <a:ext uri="{FF2B5EF4-FFF2-40B4-BE49-F238E27FC236}">
                <a16:creationId xmlns:a16="http://schemas.microsoft.com/office/drawing/2014/main" id="{08DD0E27-5A12-0F4E-BECE-ABEBCC69852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087458" y="4009762"/>
            <a:ext cx="914400" cy="914400"/>
          </a:xfrm>
          <a:prstGeom prst="rect">
            <a:avLst/>
          </a:prstGeom>
        </p:spPr>
      </p:pic>
      <p:pic>
        <p:nvPicPr>
          <p:cNvPr id="30" name="Gráfico 29" descr="Smartphone">
            <a:extLst>
              <a:ext uri="{FF2B5EF4-FFF2-40B4-BE49-F238E27FC236}">
                <a16:creationId xmlns:a16="http://schemas.microsoft.com/office/drawing/2014/main" id="{F00EED10-B3E9-F54A-A9A4-BD62C6D5AD5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2383" y="5257725"/>
            <a:ext cx="914400" cy="914400"/>
          </a:xfrm>
          <a:prstGeom prst="rect">
            <a:avLst/>
          </a:prstGeom>
        </p:spPr>
      </p:pic>
      <p:pic>
        <p:nvPicPr>
          <p:cNvPr id="31" name="Gráfico 30" descr="Base de datos">
            <a:extLst>
              <a:ext uri="{FF2B5EF4-FFF2-40B4-BE49-F238E27FC236}">
                <a16:creationId xmlns:a16="http://schemas.microsoft.com/office/drawing/2014/main" id="{5E51AFE6-1405-594A-A745-C9735754DE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8086" y="2933478"/>
            <a:ext cx="914400" cy="914400"/>
          </a:xfrm>
          <a:prstGeom prst="rect">
            <a:avLst/>
          </a:prstGeom>
        </p:spPr>
      </p:pic>
      <p:pic>
        <p:nvPicPr>
          <p:cNvPr id="33" name="Gráfico 32" descr="Smartphone">
            <a:extLst>
              <a:ext uri="{FF2B5EF4-FFF2-40B4-BE49-F238E27FC236}">
                <a16:creationId xmlns:a16="http://schemas.microsoft.com/office/drawing/2014/main" id="{D327C431-5C76-134F-B1AC-DA608091F38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1907" y="3745236"/>
            <a:ext cx="914400" cy="914400"/>
          </a:xfrm>
          <a:prstGeom prst="rect">
            <a:avLst/>
          </a:prstGeom>
        </p:spPr>
      </p:pic>
      <p:pic>
        <p:nvPicPr>
          <p:cNvPr id="34" name="Gráfico 33" descr="Smartphone">
            <a:extLst>
              <a:ext uri="{FF2B5EF4-FFF2-40B4-BE49-F238E27FC236}">
                <a16:creationId xmlns:a16="http://schemas.microsoft.com/office/drawing/2014/main" id="{3051A9C9-18AF-514C-AC40-3EC3ED2EE07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2383" y="2631244"/>
            <a:ext cx="914400" cy="914400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6CBDA453-0404-E343-8824-F04033A9C27E}"/>
              </a:ext>
            </a:extLst>
          </p:cNvPr>
          <p:cNvSpPr txBox="1"/>
          <p:nvPr/>
        </p:nvSpPr>
        <p:spPr>
          <a:xfrm>
            <a:off x="4936" y="2201143"/>
            <a:ext cx="1150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SENSORES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CBA4750F-9618-3545-8ECE-74A0A297C1E1}"/>
              </a:ext>
            </a:extLst>
          </p:cNvPr>
          <p:cNvSpPr txBox="1"/>
          <p:nvPr/>
        </p:nvSpPr>
        <p:spPr>
          <a:xfrm>
            <a:off x="1268013" y="3825096"/>
            <a:ext cx="945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colector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0C128328-57F3-4044-869D-9372771D0300}"/>
              </a:ext>
            </a:extLst>
          </p:cNvPr>
          <p:cNvSpPr txBox="1"/>
          <p:nvPr/>
        </p:nvSpPr>
        <p:spPr>
          <a:xfrm>
            <a:off x="3038696" y="3560570"/>
            <a:ext cx="959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gateway</a:t>
            </a:r>
          </a:p>
        </p:txBody>
      </p:sp>
      <p:pic>
        <p:nvPicPr>
          <p:cNvPr id="40" name="Gráfico 39" descr="Servidor">
            <a:extLst>
              <a:ext uri="{FF2B5EF4-FFF2-40B4-BE49-F238E27FC236}">
                <a16:creationId xmlns:a16="http://schemas.microsoft.com/office/drawing/2014/main" id="{7FE0FEFD-FC9E-6F44-A596-A16E02CE179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829599" y="4199817"/>
            <a:ext cx="914400" cy="914400"/>
          </a:xfrm>
          <a:prstGeom prst="rect">
            <a:avLst/>
          </a:prstGeom>
        </p:spPr>
      </p:pic>
      <p:sp>
        <p:nvSpPr>
          <p:cNvPr id="43" name="Flecha derecha 42">
            <a:extLst>
              <a:ext uri="{FF2B5EF4-FFF2-40B4-BE49-F238E27FC236}">
                <a16:creationId xmlns:a16="http://schemas.microsoft.com/office/drawing/2014/main" id="{04727671-958B-4740-947A-F6D884DAF76F}"/>
              </a:ext>
            </a:extLst>
          </p:cNvPr>
          <p:cNvSpPr/>
          <p:nvPr/>
        </p:nvSpPr>
        <p:spPr>
          <a:xfrm>
            <a:off x="916722" y="4301261"/>
            <a:ext cx="702581" cy="476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6" name="Flecha derecha 45">
            <a:extLst>
              <a:ext uri="{FF2B5EF4-FFF2-40B4-BE49-F238E27FC236}">
                <a16:creationId xmlns:a16="http://schemas.microsoft.com/office/drawing/2014/main" id="{A4200B08-EC7C-B74B-9F44-22CEB86477D5}"/>
              </a:ext>
            </a:extLst>
          </p:cNvPr>
          <p:cNvSpPr/>
          <p:nvPr/>
        </p:nvSpPr>
        <p:spPr>
          <a:xfrm>
            <a:off x="2526742" y="4293976"/>
            <a:ext cx="702581" cy="476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" name="Flecha derecha 46">
            <a:extLst>
              <a:ext uri="{FF2B5EF4-FFF2-40B4-BE49-F238E27FC236}">
                <a16:creationId xmlns:a16="http://schemas.microsoft.com/office/drawing/2014/main" id="{1E33CBA5-4D45-A845-91A1-F8EE9732F676}"/>
              </a:ext>
            </a:extLst>
          </p:cNvPr>
          <p:cNvSpPr/>
          <p:nvPr/>
        </p:nvSpPr>
        <p:spPr>
          <a:xfrm>
            <a:off x="4029736" y="4301261"/>
            <a:ext cx="702581" cy="476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462BBEC5-D5DC-544D-B9FE-6869EE35D3AE}"/>
              </a:ext>
            </a:extLst>
          </p:cNvPr>
          <p:cNvSpPr txBox="1"/>
          <p:nvPr/>
        </p:nvSpPr>
        <p:spPr>
          <a:xfrm>
            <a:off x="10939231" y="226191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App</a:t>
            </a:r>
          </a:p>
        </p:txBody>
      </p:sp>
      <p:sp>
        <p:nvSpPr>
          <p:cNvPr id="51" name="Flecha derecha 50">
            <a:extLst>
              <a:ext uri="{FF2B5EF4-FFF2-40B4-BE49-F238E27FC236}">
                <a16:creationId xmlns:a16="http://schemas.microsoft.com/office/drawing/2014/main" id="{9F052700-0119-1B4D-8DD8-75C6708D639E}"/>
              </a:ext>
            </a:extLst>
          </p:cNvPr>
          <p:cNvSpPr/>
          <p:nvPr/>
        </p:nvSpPr>
        <p:spPr>
          <a:xfrm>
            <a:off x="5836737" y="4293976"/>
            <a:ext cx="702581" cy="47608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2" name="Flecha derecha 51">
            <a:extLst>
              <a:ext uri="{FF2B5EF4-FFF2-40B4-BE49-F238E27FC236}">
                <a16:creationId xmlns:a16="http://schemas.microsoft.com/office/drawing/2014/main" id="{F61B90A5-ADBD-D045-BF67-EFC3AA7A9312}"/>
              </a:ext>
            </a:extLst>
          </p:cNvPr>
          <p:cNvSpPr/>
          <p:nvPr/>
        </p:nvSpPr>
        <p:spPr>
          <a:xfrm>
            <a:off x="7774321" y="4288927"/>
            <a:ext cx="702581" cy="47608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294321B0-0FBC-D547-88F8-EF1737D1F6D2}"/>
              </a:ext>
            </a:extLst>
          </p:cNvPr>
          <p:cNvSpPr txBox="1"/>
          <p:nvPr/>
        </p:nvSpPr>
        <p:spPr>
          <a:xfrm>
            <a:off x="4848295" y="5145388"/>
            <a:ext cx="1297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bg1"/>
                </a:solidFill>
              </a:rPr>
              <a:t>Distribuidor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A4F2480E-12BF-1C4E-ABE9-649C62B9C16C}"/>
              </a:ext>
            </a:extLst>
          </p:cNvPr>
          <p:cNvSpPr txBox="1"/>
          <p:nvPr/>
        </p:nvSpPr>
        <p:spPr>
          <a:xfrm>
            <a:off x="5004017" y="3767308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bg1"/>
                </a:solidFill>
              </a:rPr>
              <a:t>SQL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D7E8FA5C-40D8-E246-8D9E-9AF90A9CFFB0}"/>
              </a:ext>
            </a:extLst>
          </p:cNvPr>
          <p:cNvSpPr txBox="1"/>
          <p:nvPr/>
        </p:nvSpPr>
        <p:spPr>
          <a:xfrm>
            <a:off x="6622597" y="3804093"/>
            <a:ext cx="121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bg1"/>
                </a:solidFill>
              </a:rPr>
              <a:t>DWH-GRID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50DFEF52-0B25-6A45-B738-7B7E10D80F07}"/>
              </a:ext>
            </a:extLst>
          </p:cNvPr>
          <p:cNvSpPr txBox="1"/>
          <p:nvPr/>
        </p:nvSpPr>
        <p:spPr>
          <a:xfrm>
            <a:off x="8629001" y="3829777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bg1"/>
                </a:solidFill>
              </a:rPr>
              <a:t>VIZ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EA3FE83-D71D-B349-B10D-9B33AB80B2BB}"/>
              </a:ext>
            </a:extLst>
          </p:cNvPr>
          <p:cNvSpPr txBox="1"/>
          <p:nvPr/>
        </p:nvSpPr>
        <p:spPr>
          <a:xfrm>
            <a:off x="6903608" y="5145388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bg1"/>
                </a:solidFill>
              </a:rPr>
              <a:t>ETL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B2DB0872-5E85-6E4D-B8A8-69761A063198}"/>
              </a:ext>
            </a:extLst>
          </p:cNvPr>
          <p:cNvSpPr txBox="1"/>
          <p:nvPr/>
        </p:nvSpPr>
        <p:spPr>
          <a:xfrm>
            <a:off x="8541880" y="5145388"/>
            <a:ext cx="1034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bg1"/>
                </a:solidFill>
              </a:rPr>
              <a:t>MODELO</a:t>
            </a:r>
          </a:p>
        </p:txBody>
      </p:sp>
      <p:sp>
        <p:nvSpPr>
          <p:cNvPr id="59" name="Flecha derecha 58">
            <a:extLst>
              <a:ext uri="{FF2B5EF4-FFF2-40B4-BE49-F238E27FC236}">
                <a16:creationId xmlns:a16="http://schemas.microsoft.com/office/drawing/2014/main" id="{7EF4581A-6525-7E48-B6A3-686B785FBDB2}"/>
              </a:ext>
            </a:extLst>
          </p:cNvPr>
          <p:cNvSpPr/>
          <p:nvPr/>
        </p:nvSpPr>
        <p:spPr>
          <a:xfrm>
            <a:off x="9852355" y="4301261"/>
            <a:ext cx="702581" cy="476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3193B2C3-B2B5-5F42-87C4-3C2E4D1F5872}"/>
              </a:ext>
            </a:extLst>
          </p:cNvPr>
          <p:cNvSpPr/>
          <p:nvPr/>
        </p:nvSpPr>
        <p:spPr>
          <a:xfrm>
            <a:off x="10896936" y="5786286"/>
            <a:ext cx="998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/>
              <a:t>Usuarios</a:t>
            </a:r>
          </a:p>
        </p:txBody>
      </p:sp>
    </p:spTree>
    <p:extLst>
      <p:ext uri="{BB962C8B-B14F-4D97-AF65-F5344CB8AC3E}">
        <p14:creationId xmlns:p14="http://schemas.microsoft.com/office/powerpoint/2010/main" val="801904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8DC77C-1F3A-0C48-A9C4-D5D768AC3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ARQUITECTURA</a:t>
            </a:r>
          </a:p>
        </p:txBody>
      </p:sp>
      <p:sp>
        <p:nvSpPr>
          <p:cNvPr id="4" name="Lata 3">
            <a:extLst>
              <a:ext uri="{FF2B5EF4-FFF2-40B4-BE49-F238E27FC236}">
                <a16:creationId xmlns:a16="http://schemas.microsoft.com/office/drawing/2014/main" id="{2E1AA4AA-4069-7A4C-95AB-D2CB356258BE}"/>
              </a:ext>
            </a:extLst>
          </p:cNvPr>
          <p:cNvSpPr/>
          <p:nvPr/>
        </p:nvSpPr>
        <p:spPr>
          <a:xfrm>
            <a:off x="1000125" y="2243138"/>
            <a:ext cx="1685925" cy="97155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P25m</a:t>
            </a:r>
          </a:p>
          <a:p>
            <a:pPr algn="ctr"/>
            <a:r>
              <a:rPr lang="es-CO"/>
              <a:t>SIATA</a:t>
            </a:r>
          </a:p>
        </p:txBody>
      </p:sp>
      <p:sp>
        <p:nvSpPr>
          <p:cNvPr id="6" name="Lata 5">
            <a:extLst>
              <a:ext uri="{FF2B5EF4-FFF2-40B4-BE49-F238E27FC236}">
                <a16:creationId xmlns:a16="http://schemas.microsoft.com/office/drawing/2014/main" id="{112F1769-F75E-E54F-8FC6-235D16FA5245}"/>
              </a:ext>
            </a:extLst>
          </p:cNvPr>
          <p:cNvSpPr/>
          <p:nvPr/>
        </p:nvSpPr>
        <p:spPr>
          <a:xfrm>
            <a:off x="1000124" y="4056186"/>
            <a:ext cx="1685925" cy="97155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OTRAS fuentes</a:t>
            </a:r>
          </a:p>
        </p:txBody>
      </p:sp>
      <p:pic>
        <p:nvPicPr>
          <p:cNvPr id="11" name="Imagen 10" descr="Imagen que contiene reloj&#10;&#10;Descripción generada automáticamente">
            <a:extLst>
              <a:ext uri="{FF2B5EF4-FFF2-40B4-BE49-F238E27FC236}">
                <a16:creationId xmlns:a16="http://schemas.microsoft.com/office/drawing/2014/main" id="{3B1E89C7-2B89-8342-B346-237C60127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537" y="1690688"/>
            <a:ext cx="5907637" cy="3589337"/>
          </a:xfrm>
          <a:prstGeom prst="rect">
            <a:avLst/>
          </a:prstGeom>
        </p:spPr>
      </p:pic>
      <p:pic>
        <p:nvPicPr>
          <p:cNvPr id="15" name="Gráfico 14" descr="Engranajes">
            <a:extLst>
              <a:ext uri="{FF2B5EF4-FFF2-40B4-BE49-F238E27FC236}">
                <a16:creationId xmlns:a16="http://schemas.microsoft.com/office/drawing/2014/main" id="{06F81420-EECA-C24B-8DB7-A96880AA1A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84288" y="2603210"/>
            <a:ext cx="1339769" cy="1339769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4D7643BA-45C4-9F44-8BEE-07594AAAB662}"/>
              </a:ext>
            </a:extLst>
          </p:cNvPr>
          <p:cNvSpPr txBox="1"/>
          <p:nvPr/>
        </p:nvSpPr>
        <p:spPr>
          <a:xfrm>
            <a:off x="9742299" y="4172629"/>
            <a:ext cx="1034001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s-CO">
                <a:solidFill>
                  <a:schemeClr val="bg1"/>
                </a:solidFill>
              </a:rPr>
              <a:t>MODELO</a:t>
            </a:r>
          </a:p>
        </p:txBody>
      </p:sp>
      <p:sp>
        <p:nvSpPr>
          <p:cNvPr id="18" name="Flecha derecha 17">
            <a:extLst>
              <a:ext uri="{FF2B5EF4-FFF2-40B4-BE49-F238E27FC236}">
                <a16:creationId xmlns:a16="http://schemas.microsoft.com/office/drawing/2014/main" id="{A668D6F4-7CE2-644D-9478-CA8D32677CD3}"/>
              </a:ext>
            </a:extLst>
          </p:cNvPr>
          <p:cNvSpPr/>
          <p:nvPr/>
        </p:nvSpPr>
        <p:spPr>
          <a:xfrm>
            <a:off x="2959132" y="3328780"/>
            <a:ext cx="702581" cy="476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 derecha 18">
            <a:extLst>
              <a:ext uri="{FF2B5EF4-FFF2-40B4-BE49-F238E27FC236}">
                <a16:creationId xmlns:a16="http://schemas.microsoft.com/office/drawing/2014/main" id="{652EF443-EF49-AE44-AF33-7D43257C4C46}"/>
              </a:ext>
            </a:extLst>
          </p:cNvPr>
          <p:cNvSpPr/>
          <p:nvPr/>
        </p:nvSpPr>
        <p:spPr>
          <a:xfrm>
            <a:off x="8790150" y="3328780"/>
            <a:ext cx="702581" cy="476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7614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B252AB-3713-114A-9FF7-65221E454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EL MODELO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B19992-6333-B14C-ABE0-C5351F4E1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CO"/>
              <a:t>Recuerde – debe consultar un experto en el tema (experto en aire y medioambiente + medico en éste ejemplo) – agricultor, biologo, bacteriologo, agronomo, etc</a:t>
            </a:r>
          </a:p>
          <a:p>
            <a:r>
              <a:rPr lang="es-CO"/>
              <a:t>Determine el valor a estimar</a:t>
            </a:r>
          </a:p>
          <a:p>
            <a:pPr lvl="1"/>
            <a:r>
              <a:rPr lang="es-CO"/>
              <a:t>Cantidad de toneladas por hectarea</a:t>
            </a:r>
          </a:p>
          <a:p>
            <a:pPr lvl="1"/>
            <a:r>
              <a:rPr lang="es-CO"/>
              <a:t>Cantidad de contaminación en el aire</a:t>
            </a:r>
          </a:p>
          <a:p>
            <a:pPr lvl="1"/>
            <a:r>
              <a:rPr lang="es-CO"/>
              <a:t>% de contaminación del volumen de aire en el valle (para este ejemplo)</a:t>
            </a:r>
          </a:p>
          <a:p>
            <a:r>
              <a:rPr lang="es-CO"/>
              <a:t>Implemente el estimador usando los datos disponibles</a:t>
            </a:r>
          </a:p>
          <a:p>
            <a:r>
              <a:rPr lang="es-CO"/>
              <a:t>Determine la hipótesis de la decision</a:t>
            </a:r>
          </a:p>
          <a:p>
            <a:r>
              <a:rPr lang="es-CO"/>
              <a:t>Comunique y grafique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2396156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B252AB-3713-114A-9FF7-65221E454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EXAMEN/TRABAJO 3 - 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B19992-6333-B14C-ABE0-C5351F4E1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CO"/>
              <a:t>PREPARACIÓN </a:t>
            </a:r>
          </a:p>
          <a:p>
            <a:r>
              <a:rPr lang="es-CO"/>
              <a:t>Parte 1:</a:t>
            </a:r>
          </a:p>
          <a:p>
            <a:pPr marL="0" indent="0">
              <a:buNone/>
            </a:pPr>
            <a:r>
              <a:rPr lang="es-CO"/>
              <a:t>   Desarrollar un proceso de ETL y modelo para el modelo de calidad de aire del AMVA</a:t>
            </a:r>
          </a:p>
          <a:p>
            <a:r>
              <a:rPr lang="es-CO"/>
              <a:t>Parte 2:</a:t>
            </a:r>
          </a:p>
          <a:p>
            <a:pPr marL="0" indent="0">
              <a:buNone/>
            </a:pPr>
            <a:r>
              <a:rPr lang="es-CO"/>
              <a:t>   Desarrollar una APP que le diga a los usuarios el riesgo y visualizarla en una página web</a:t>
            </a:r>
            <a:endParaRPr lang="es-CO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64015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B252AB-3713-114A-9FF7-65221E454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EJEMPLO PRACTICO 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B992D8-6126-DA4D-9D8C-E5A7D48A5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468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CO"/>
              <a:t>Ingrese al siguiente enlace</a:t>
            </a:r>
          </a:p>
          <a:p>
            <a:pPr marL="0" indent="0">
              <a:buNone/>
            </a:pPr>
            <a:endParaRPr lang="es-CO"/>
          </a:p>
        </p:txBody>
      </p:sp>
      <p:pic>
        <p:nvPicPr>
          <p:cNvPr id="5" name="Imagen 4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B1560CE5-91CB-7649-B707-EE7509F41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075" y="2900990"/>
            <a:ext cx="5425041" cy="395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063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B252AB-3713-114A-9FF7-65221E454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EJEMPLO PRACTICO 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B992D8-6126-DA4D-9D8C-E5A7D48A5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2200" y="185737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CO"/>
              <a:t>Construya las hipótesis de decisión </a:t>
            </a:r>
          </a:p>
          <a:p>
            <a:pPr marL="0" indent="0">
              <a:buNone/>
            </a:pPr>
            <a:r>
              <a:rPr lang="es-CO"/>
              <a:t>¿vamos a llegar al mismo modelo de Medellin del area metropolitana?</a:t>
            </a:r>
          </a:p>
          <a:p>
            <a:pPr marL="0" indent="0">
              <a:buNone/>
            </a:pPr>
            <a:r>
              <a:rPr lang="es-CO"/>
              <a:t>Evalúe que tan cierto es el modelo que tenemos hoy en día</a:t>
            </a:r>
          </a:p>
          <a:p>
            <a:pPr marL="0" indent="0">
              <a:buNone/>
            </a:pPr>
            <a:endParaRPr lang="es-CO"/>
          </a:p>
          <a:p>
            <a:pPr marL="0" indent="0">
              <a:buNone/>
            </a:pPr>
            <a:r>
              <a:rPr lang="es-CO"/>
              <a:t>Determine el parámetro para tomar la decisión</a:t>
            </a:r>
          </a:p>
          <a:p>
            <a:pPr marL="0" indent="0">
              <a:buNone/>
            </a:pPr>
            <a:r>
              <a:rPr lang="es-CO">
                <a:hlinkClick r:id="rId2"/>
              </a:rPr>
              <a:t>https://forum.airnowtech.org/t/aqi-calculations-overview-ozone-pm2-5-and-pm10/168</a:t>
            </a:r>
            <a:r>
              <a:rPr lang="es-CO"/>
              <a:t> </a:t>
            </a:r>
          </a:p>
          <a:p>
            <a:pPr marL="0" indent="0">
              <a:buNone/>
            </a:pPr>
            <a:r>
              <a:rPr lang="es-CO"/>
              <a:t>Parámetro propuesto = contaminación promedio del valle</a:t>
            </a:r>
          </a:p>
          <a:p>
            <a:pPr marL="0" indent="0">
              <a:buNone/>
            </a:pPr>
            <a:r>
              <a:rPr lang="es-CO"/>
              <a:t>	¿Cómo calcula este parámetro?</a:t>
            </a:r>
          </a:p>
          <a:p>
            <a:pPr marL="0" indent="0">
              <a:buNone/>
            </a:pPr>
            <a:r>
              <a:rPr lang="es-CO"/>
              <a:t>Impleméntelo en Python usando el ejemplo para la sesión de hoy</a:t>
            </a:r>
          </a:p>
          <a:p>
            <a:pPr marL="0" indent="0">
              <a:buNone/>
            </a:pPr>
            <a:r>
              <a:rPr lang="es-CO">
                <a:hlinkClick r:id="rId3"/>
              </a:rPr>
              <a:t>https://www.epa.gov/sites/production/files/2014-05/documents/zell-aqi.pdf</a:t>
            </a:r>
            <a:endParaRPr lang="es-CO"/>
          </a:p>
          <a:p>
            <a:pPr marL="0" indent="0">
              <a:buNone/>
            </a:pP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05647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52283bc-ba04-4ab8-9f6b-1f96a96755cd" xsi:nil="true"/>
    <lcf76f155ced4ddcb4097134ff3c332f xmlns="a56da131-51c8-474b-82c4-87a2265dd7d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B07D2D7BDD7E4687715376EFEF2C48" ma:contentTypeVersion="10" ma:contentTypeDescription="Create a new document." ma:contentTypeScope="" ma:versionID="1d596e04befbebf57d47d11c830699ac">
  <xsd:schema xmlns:xsd="http://www.w3.org/2001/XMLSchema" xmlns:xs="http://www.w3.org/2001/XMLSchema" xmlns:p="http://schemas.microsoft.com/office/2006/metadata/properties" xmlns:ns2="a56da131-51c8-474b-82c4-87a2265dd7dc" xmlns:ns3="152283bc-ba04-4ab8-9f6b-1f96a96755cd" targetNamespace="http://schemas.microsoft.com/office/2006/metadata/properties" ma:root="true" ma:fieldsID="7b2bdf44b47fba4ad4975a9fdc367a6d" ns2:_="" ns3:_="">
    <xsd:import namespace="a56da131-51c8-474b-82c4-87a2265dd7dc"/>
    <xsd:import namespace="152283bc-ba04-4ab8-9f6b-1f96a96755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6da131-51c8-474b-82c4-87a2265dd7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9eb28b8-418d-4e4f-834a-21a5a75d3e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2283bc-ba04-4ab8-9f6b-1f96a96755c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a5ddc29-0582-4f0f-a49e-9566dd7b31c6}" ma:internalName="TaxCatchAll" ma:showField="CatchAllData" ma:web="152283bc-ba04-4ab8-9f6b-1f96a96755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0010D1-1ED0-48BD-90F0-E8AF7E459664}">
  <ds:schemaRefs>
    <ds:schemaRef ds:uri="4e7d5fc5-bb5c-40ec-af1a-c09e8288b271"/>
    <ds:schemaRef ds:uri="686b10b8-9252-4562-bd35-ed78c92971de"/>
    <ds:schemaRef ds:uri="83d977c4-24da-4863-bc3b-f5053377e68c"/>
    <ds:schemaRef ds:uri="9dd8cca9-faa3-4bad-aefe-fb67763650cb"/>
    <ds:schemaRef ds:uri="ab4bd7e0-566f-4a89-b0e6-439dafa68420"/>
    <ds:schemaRef ds:uri="b3f3823a-4102-46a2-8ce0-0196d5f885f5"/>
    <ds:schemaRef ds:uri="bca7e5b0-96ab-4c73-b6f8-c096d3418223"/>
    <ds:schemaRef ds:uri="e7dfe418-509b-440b-afb8-97fb8ee228bc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BACB39B-909B-4FCB-A9E0-4FA2C3F27C6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6885016-FF50-43A7-973C-8701B45EC185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Tema de Office</vt:lpstr>
      <vt:lpstr>ETL2</vt:lpstr>
      <vt:lpstr>Temas de hoy</vt:lpstr>
      <vt:lpstr>ARQUITECTURA</vt:lpstr>
      <vt:lpstr>ARQUITECTURA</vt:lpstr>
      <vt:lpstr>EL MODELO</vt:lpstr>
      <vt:lpstr>EXAMEN/TRABAJO 3 - </vt:lpstr>
      <vt:lpstr>EJEMPLO PRACTICO 2</vt:lpstr>
      <vt:lpstr>EJEMPLO PRACTICO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Virtual 17 de marzo</dc:title>
  <dc:creator>Leonardo Betancur Agudelo</dc:creator>
  <cp:revision>1</cp:revision>
  <dcterms:created xsi:type="dcterms:W3CDTF">2020-03-17T13:16:21Z</dcterms:created>
  <dcterms:modified xsi:type="dcterms:W3CDTF">2024-10-04T13:34:05Z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0x0101004AB07D2D7BDD7E4687715376EFEF2C48</vt:lpwstr>
  </property>
  <property fmtid="{D5CDD505-2E9C-101B-9397-08002B2CF9AE}" pid="3" name="MediaServiceImageTags">
    <vt:lpwstr/>
  </property>
  <property fmtid="{D5CDD505-2E9C-101B-9397-08002B2CF9AE}" pid="4" name="Order">
    <vt:r8>1800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