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B350FC-FF94-6804-DB25-4ACACE3A2550}" v="2" dt="2025-04-09T15:44:01.0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Gallego Henao" userId="S::santiago.gallegoh@upb.edu.co::5f57ef06-f24e-486c-a7c2-9456e980bd76" providerId="AD" clId="Web-{08B350FC-FF94-6804-DB25-4ACACE3A2550}"/>
    <pc:docChg chg="modSld">
      <pc:chgData name="Santiago Gallego Henao" userId="S::santiago.gallegoh@upb.edu.co::5f57ef06-f24e-486c-a7c2-9456e980bd76" providerId="AD" clId="Web-{08B350FC-FF94-6804-DB25-4ACACE3A2550}" dt="2025-04-09T15:44:01.088" v="1" actId="1076"/>
      <pc:docMkLst>
        <pc:docMk/>
      </pc:docMkLst>
      <pc:sldChg chg="modSp">
        <pc:chgData name="Santiago Gallego Henao" userId="S::santiago.gallegoh@upb.edu.co::5f57ef06-f24e-486c-a7c2-9456e980bd76" providerId="AD" clId="Web-{08B350FC-FF94-6804-DB25-4ACACE3A2550}" dt="2025-04-09T15:44:01.088" v="1" actId="1076"/>
        <pc:sldMkLst>
          <pc:docMk/>
          <pc:sldMk cId="2690499913" sldId="263"/>
        </pc:sldMkLst>
        <pc:spChg chg="mod">
          <ac:chgData name="Santiago Gallego Henao" userId="S::santiago.gallegoh@upb.edu.co::5f57ef06-f24e-486c-a7c2-9456e980bd76" providerId="AD" clId="Web-{08B350FC-FF94-6804-DB25-4ACACE3A2550}" dt="2025-04-09T15:44:01.088" v="1" actId="1076"/>
          <ac:spMkLst>
            <pc:docMk/>
            <pc:sldMk cId="2690499913" sldId="263"/>
            <ac:spMk id="47" creationId="{F0DF0F82-50CF-CF42-98FD-69A58F0580A2}"/>
          </ac:spMkLst>
        </pc:spChg>
      </pc:sldChg>
    </pc:docChg>
  </pc:docChgLst>
  <pc:docChgLst>
    <pc:chgData name="Leonardo Betancur Agudelo" userId="a3f3de06-0858-4298-8f47-441574265671" providerId="ADAL" clId="{557E9F7C-65E0-5F4C-AAFD-D5F061556089}"/>
    <pc:docChg chg="custSel addSld modSld">
      <pc:chgData name="Leonardo Betancur Agudelo" userId="a3f3de06-0858-4298-8f47-441574265671" providerId="ADAL" clId="{557E9F7C-65E0-5F4C-AAFD-D5F061556089}" dt="2021-10-12T14:41:53.066" v="39" actId="20577"/>
      <pc:docMkLst>
        <pc:docMk/>
      </pc:docMkLst>
      <pc:sldChg chg="modSp new mod">
        <pc:chgData name="Leonardo Betancur Agudelo" userId="a3f3de06-0858-4298-8f47-441574265671" providerId="ADAL" clId="{557E9F7C-65E0-5F4C-AAFD-D5F061556089}" dt="2021-10-12T14:41:53.066" v="39" actId="20577"/>
        <pc:sldMkLst>
          <pc:docMk/>
          <pc:sldMk cId="2541430672" sldId="268"/>
        </pc:sldMkLst>
        <pc:spChg chg="mod">
          <ac:chgData name="Leonardo Betancur Agudelo" userId="a3f3de06-0858-4298-8f47-441574265671" providerId="ADAL" clId="{557E9F7C-65E0-5F4C-AAFD-D5F061556089}" dt="2021-10-12T14:40:44.446" v="30" actId="20577"/>
          <ac:spMkLst>
            <pc:docMk/>
            <pc:sldMk cId="2541430672" sldId="268"/>
            <ac:spMk id="2" creationId="{FCFE80BC-9731-034E-B110-02E791687047}"/>
          </ac:spMkLst>
        </pc:spChg>
        <pc:spChg chg="mod">
          <ac:chgData name="Leonardo Betancur Agudelo" userId="a3f3de06-0858-4298-8f47-441574265671" providerId="ADAL" clId="{557E9F7C-65E0-5F4C-AAFD-D5F061556089}" dt="2021-10-12T14:41:53.066" v="39" actId="20577"/>
          <ac:spMkLst>
            <pc:docMk/>
            <pc:sldMk cId="2541430672" sldId="268"/>
            <ac:spMk id="3" creationId="{E0F69BAD-E1A2-CA43-B6D2-AAB796E69399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A24A12D-D83A-42EA-893D-BD8968CD07A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AC45222-430D-4B61-9A59-CFC7A696060E}">
      <dgm:prSet custT="1"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CO" sz="2800"/>
            <a:t>Práctico: AYUDAS AL DESARROLLO DE LA APLICACIÓN DE CALIDAD DE AIRE</a:t>
          </a:r>
          <a:endParaRPr lang="en-US" sz="2800"/>
        </a:p>
      </dgm:t>
    </dgm:pt>
    <dgm:pt modelId="{D3F9A38B-51D2-49F2-BCD4-96D7FBBE72A0}" type="parTrans" cxnId="{2E2A1651-00AA-4188-B9E2-3028A9416C6E}">
      <dgm:prSet/>
      <dgm:spPr/>
      <dgm:t>
        <a:bodyPr/>
        <a:lstStyle/>
        <a:p>
          <a:endParaRPr lang="en-US"/>
        </a:p>
      </dgm:t>
    </dgm:pt>
    <dgm:pt modelId="{A2A40F53-FF50-4301-B7CA-307FD25C2E5C}" type="sibTrans" cxnId="{2E2A1651-00AA-4188-B9E2-3028A9416C6E}">
      <dgm:prSet/>
      <dgm:spPr/>
      <dgm:t>
        <a:bodyPr/>
        <a:lstStyle/>
        <a:p>
          <a:endParaRPr lang="en-US"/>
        </a:p>
      </dgm:t>
    </dgm:pt>
    <dgm:pt modelId="{C5216B9D-3087-405C-BE30-2E3EC6C9C9D7}" type="pres">
      <dgm:prSet presAssocID="{2A24A12D-D83A-42EA-893D-BD8968CD07AE}" presName="root" presStyleCnt="0">
        <dgm:presLayoutVars>
          <dgm:dir/>
          <dgm:resizeHandles val="exact"/>
        </dgm:presLayoutVars>
      </dgm:prSet>
      <dgm:spPr/>
    </dgm:pt>
    <dgm:pt modelId="{71A991A1-448C-442D-9E77-B1953839E530}" type="pres">
      <dgm:prSet presAssocID="{5AC45222-430D-4B61-9A59-CFC7A696060E}" presName="compNode" presStyleCnt="0"/>
      <dgm:spPr/>
    </dgm:pt>
    <dgm:pt modelId="{127C34D9-9982-427A-9007-D605C6B43FD7}" type="pres">
      <dgm:prSet presAssocID="{5AC45222-430D-4B61-9A59-CFC7A696060E}" presName="iconBgRect" presStyleLbl="bgShp" presStyleIdx="0" presStyleCnt="1"/>
      <dgm:spPr/>
    </dgm:pt>
    <dgm:pt modelId="{D18B46C6-681C-4831-B253-53D668FCF12C}" type="pres">
      <dgm:prSet presAssocID="{5AC45222-430D-4B61-9A59-CFC7A696060E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5D0CD8D6-F753-480F-AF1E-0C730DA768D0}" type="pres">
      <dgm:prSet presAssocID="{5AC45222-430D-4B61-9A59-CFC7A696060E}" presName="spaceRect" presStyleCnt="0"/>
      <dgm:spPr/>
    </dgm:pt>
    <dgm:pt modelId="{DAAB6E77-1AAF-4EA6-8A84-4DCF7366FE7D}" type="pres">
      <dgm:prSet presAssocID="{5AC45222-430D-4B61-9A59-CFC7A696060E}" presName="textRect" presStyleLbl="revTx" presStyleIdx="0" presStyleCnt="1" custScaleX="168031">
        <dgm:presLayoutVars>
          <dgm:chMax val="1"/>
          <dgm:chPref val="1"/>
        </dgm:presLayoutVars>
      </dgm:prSet>
      <dgm:spPr/>
    </dgm:pt>
  </dgm:ptLst>
  <dgm:cxnLst>
    <dgm:cxn modelId="{D781330D-A9BC-49E4-A9EC-A24A8A2CD276}" type="presOf" srcId="{2A24A12D-D83A-42EA-893D-BD8968CD07AE}" destId="{C5216B9D-3087-405C-BE30-2E3EC6C9C9D7}" srcOrd="0" destOrd="0" presId="urn:microsoft.com/office/officeart/2018/5/layout/IconCircleLabelList"/>
    <dgm:cxn modelId="{2E2A1651-00AA-4188-B9E2-3028A9416C6E}" srcId="{2A24A12D-D83A-42EA-893D-BD8968CD07AE}" destId="{5AC45222-430D-4B61-9A59-CFC7A696060E}" srcOrd="0" destOrd="0" parTransId="{D3F9A38B-51D2-49F2-BCD4-96D7FBBE72A0}" sibTransId="{A2A40F53-FF50-4301-B7CA-307FD25C2E5C}"/>
    <dgm:cxn modelId="{7CA979F8-FDAD-499D-8C3E-5CB548DCBDA9}" type="presOf" srcId="{5AC45222-430D-4B61-9A59-CFC7A696060E}" destId="{DAAB6E77-1AAF-4EA6-8A84-4DCF7366FE7D}" srcOrd="0" destOrd="0" presId="urn:microsoft.com/office/officeart/2018/5/layout/IconCircleLabelList"/>
    <dgm:cxn modelId="{FEAE3E04-25BF-4757-9BBE-B5A6A9B52E3B}" type="presParOf" srcId="{C5216B9D-3087-405C-BE30-2E3EC6C9C9D7}" destId="{71A991A1-448C-442D-9E77-B1953839E530}" srcOrd="0" destOrd="0" presId="urn:microsoft.com/office/officeart/2018/5/layout/IconCircleLabelList"/>
    <dgm:cxn modelId="{BB984842-8167-433C-AE55-10FA9A6CB75B}" type="presParOf" srcId="{71A991A1-448C-442D-9E77-B1953839E530}" destId="{127C34D9-9982-427A-9007-D605C6B43FD7}" srcOrd="0" destOrd="0" presId="urn:microsoft.com/office/officeart/2018/5/layout/IconCircleLabelList"/>
    <dgm:cxn modelId="{8C7D4F92-FE5F-493D-92DF-23434F6C0292}" type="presParOf" srcId="{71A991A1-448C-442D-9E77-B1953839E530}" destId="{D18B46C6-681C-4831-B253-53D668FCF12C}" srcOrd="1" destOrd="0" presId="urn:microsoft.com/office/officeart/2018/5/layout/IconCircleLabelList"/>
    <dgm:cxn modelId="{67557549-4444-4C9C-B03E-E9910F547027}" type="presParOf" srcId="{71A991A1-448C-442D-9E77-B1953839E530}" destId="{5D0CD8D6-F753-480F-AF1E-0C730DA768D0}" srcOrd="2" destOrd="0" presId="urn:microsoft.com/office/officeart/2018/5/layout/IconCircleLabelList"/>
    <dgm:cxn modelId="{D17F2A09-A0BB-4EE2-942C-C85E2D944705}" type="presParOf" srcId="{71A991A1-448C-442D-9E77-B1953839E530}" destId="{DAAB6E77-1AAF-4EA6-8A84-4DCF7366FE7D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C34D9-9982-427A-9007-D605C6B43FD7}">
      <dsp:nvSpPr>
        <dsp:cNvPr id="0" name=""/>
        <dsp:cNvSpPr/>
      </dsp:nvSpPr>
      <dsp:spPr>
        <a:xfrm>
          <a:off x="4176956" y="337580"/>
          <a:ext cx="2161687" cy="21299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8B46C6-681C-4831-B253-53D668FCF12C}">
      <dsp:nvSpPr>
        <dsp:cNvPr id="0" name=""/>
        <dsp:cNvSpPr/>
      </dsp:nvSpPr>
      <dsp:spPr>
        <a:xfrm>
          <a:off x="4637643" y="791499"/>
          <a:ext cx="1240312" cy="122208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AB6E77-1AAF-4EA6-8A84-4DCF7366FE7D}">
      <dsp:nvSpPr>
        <dsp:cNvPr id="0" name=""/>
        <dsp:cNvSpPr/>
      </dsp:nvSpPr>
      <dsp:spPr>
        <a:xfrm>
          <a:off x="2280500" y="3130925"/>
          <a:ext cx="5954598" cy="882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CO" sz="2800" kern="1200"/>
            <a:t>Práctico: AYUDAS AL DESARROLLO DE LA APLICACIÓN DE CALIDAD DE AIRE</a:t>
          </a:r>
          <a:endParaRPr lang="en-US" sz="2800" kern="1200"/>
        </a:p>
      </dsp:txBody>
      <dsp:txXfrm>
        <a:off x="2280500" y="3130925"/>
        <a:ext cx="5954598" cy="882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EBA86-026D-F943-90AB-39DAFC09CD31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8D847-AA89-4443-87F1-6FE2A0BD61F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5961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8D847-AA89-4443-87F1-6FE2A0BD61F5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55156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5AD2C6-A134-CC46-BDA8-9BEA686620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AD0FC7-7967-324A-8995-0AEEA4B07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708105A-4B90-2B49-9F9E-0B6E4321D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7C6A0F9-7D76-AE4A-BD94-B389A660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5C78CA-E0EC-2D4E-9DFA-FDA48D63A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0535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D74092-77A1-564B-925B-EAD7E630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7655A9F-D451-594C-BFB3-49B1E0B2F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F42E473-48C4-9248-9964-C491BFE1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9C6647-047B-A949-9C31-BE54AA88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13C5861-FE60-B948-A752-C195D5B30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7815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224D0-1D1B-C84A-BDE0-AF7B0F952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1A9CE8-020B-384A-8DEA-12F6CCC0D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CFACAB-A3C0-8F49-B15C-972B48D62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86DDC8-A68A-3342-842E-C94606A2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B8E5E7-6999-9F4C-8848-01B962AC6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5453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55B17E-4FF7-5C41-942A-AA145D540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CE7375-7E95-5443-8B41-1722753AA3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AC5EFE-6089-A443-AAF4-3CE3ED568E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64CB81A-6486-3A40-B823-89499B6B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AE2164-7768-994F-8C29-56AC51B7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1C7AD69-DA92-9340-B13D-A431DD02E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1187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D96561-2F0F-F145-8B23-5EEC6B54A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BFA112-DD57-3548-BA31-4F45A7315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01AB20-3A30-D44F-A943-4A46D553CA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E22BA67-6EDA-8344-AE6E-991A3D1E0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47D17E-DE33-4F4A-8CB1-053926E62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106535F-25FE-0248-B538-AFEDEF0AA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02F988E-7893-6343-A594-BE81B10B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1C67B35-3383-B24F-BEB1-5BAC2FDE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2395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3864A6-EAD6-EE4C-93B3-8A36D16C1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8B91A45-4318-6C44-9C00-0C71EA0A2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FA695F-B662-5246-8DE2-C00151C8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1D2ED2-3B9E-634B-94F6-BE2A4F662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44608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1D67533-E0A4-744C-8E82-8373E04E9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ADB42D-BEE7-4D44-87AD-9BF7A1E39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D7AE92E-8CDA-C744-9244-65A5C2FB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3935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E34B4-9424-DC40-BCAE-F8613BFFC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B64650-150E-BD41-A228-6E2669010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4395CA-F832-D942-BCA2-F68D027C1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2C69D17-7CE4-1448-9F52-EEFAF612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310FC78-E822-4045-BF6E-19E8954C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87E2A98-C5E3-AB4E-AD04-8E02966A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572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3DAFD0-7F39-CC44-A4FF-4E56548F5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10B9917-3109-4342-BA0A-2BF3FCCE2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CC8463-AE53-BE42-ABE0-441C7F95B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E57ADBC-B3C9-AD48-88C0-D054ED1A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D3B865-D0BF-0E41-A969-6EB230EF4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165190-ABED-C24C-BBA2-860293CB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83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18449F-A960-6B46-AFF7-2CCF2D133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A9BD0E-B03B-7E4E-95A8-FF1FB845F9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E3907C-E2EE-A84D-B2C4-49557D0C4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F76E91-9B11-CD47-BA45-DC541A9A2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FD8A03-A44D-574A-808C-101B411D7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3109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A0C3A4-6870-7348-801D-BBC82BE718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6EDEF0-23E4-424B-92B4-93CA951D4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BBA314-FE1B-7E49-AA1F-23D788201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C1D6EB-76C7-2C4C-8CFE-DD5C98AE3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86D8E4-435E-B148-B4D0-A236E048C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3737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6A2FB1-849F-E444-BBA8-595FD1456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5D03DF9-ED89-F441-BDAF-83FF1615D9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1EDBA-03F8-B347-8FF3-ECAC09FE46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8D523F-F28B-8D45-A82B-DA9B1B440939}" type="datetimeFigureOut">
              <a:rPr lang="es-CO" smtClean="0"/>
              <a:t>9/04/2025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75B3D9-8F05-B54B-9C11-CB4AD0DCDD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73DDBA-ABE2-ED4E-B6F0-219084577C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ADB8B-6252-354C-BAE2-6FF10B02E8A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393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5" Type="http://schemas.openxmlformats.org/officeDocument/2006/relationships/image" Target="../media/image26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29" Type="http://schemas.openxmlformats.org/officeDocument/2006/relationships/image" Target="../media/image30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24" Type="http://schemas.openxmlformats.org/officeDocument/2006/relationships/image" Target="../media/image25.pn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23" Type="http://schemas.openxmlformats.org/officeDocument/2006/relationships/image" Target="../media/image24.svg"/><Relationship Id="rId28" Type="http://schemas.openxmlformats.org/officeDocument/2006/relationships/image" Target="../media/image29.pn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12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22.svg"/><Relationship Id="rId5" Type="http://schemas.openxmlformats.org/officeDocument/2006/relationships/image" Target="../media/image12.svg"/><Relationship Id="rId10" Type="http://schemas.openxmlformats.org/officeDocument/2006/relationships/image" Target="../media/image21.png"/><Relationship Id="rId4" Type="http://schemas.openxmlformats.org/officeDocument/2006/relationships/image" Target="../media/image11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8.svg"/><Relationship Id="rId7" Type="http://schemas.openxmlformats.org/officeDocument/2006/relationships/image" Target="../media/image26.svg"/><Relationship Id="rId12" Type="http://schemas.openxmlformats.org/officeDocument/2006/relationships/hyperlink" Target="http://ip/senddata=Lon=longitud;Lat=latitud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16.svg"/><Relationship Id="rId10" Type="http://schemas.openxmlformats.org/officeDocument/2006/relationships/image" Target="../media/image29.png"/><Relationship Id="rId4" Type="http://schemas.openxmlformats.org/officeDocument/2006/relationships/image" Target="../media/image15.png"/><Relationship Id="rId9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rnow.gov/aqi/aqi-calculator-concentration/" TargetMode="External"/><Relationship Id="rId2" Type="http://schemas.openxmlformats.org/officeDocument/2006/relationships/hyperlink" Target="https://forum.airnowtech.org/t/the-aqi-equation/16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Air_quality_inde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8A2AA33-D5C1-4C2E-BAA5-2AAF0E63E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657E063-AC92-4DBF-9A8C-429C5E2F2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41494"/>
            <a:ext cx="12192000" cy="4316506"/>
          </a:xfrm>
          <a:prstGeom prst="rect">
            <a:avLst/>
          </a:pr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C90C7F-C82F-4383-8E86-8F056BBA8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217027" y="-378827"/>
            <a:ext cx="6858000" cy="7615655"/>
          </a:xfrm>
          <a:custGeom>
            <a:avLst/>
            <a:gdLst>
              <a:gd name="connsiteX0" fmla="*/ 0 w 6858000"/>
              <a:gd name="connsiteY0" fmla="*/ 7615655 h 7615655"/>
              <a:gd name="connsiteX1" fmla="*/ 0 w 6858000"/>
              <a:gd name="connsiteY1" fmla="*/ 7533862 h 7615655"/>
              <a:gd name="connsiteX2" fmla="*/ 1092812 w 6858000"/>
              <a:gd name="connsiteY2" fmla="*/ 7533862 h 7615655"/>
              <a:gd name="connsiteX3" fmla="*/ 1092812 w 6858000"/>
              <a:gd name="connsiteY3" fmla="*/ 81793 h 7615655"/>
              <a:gd name="connsiteX4" fmla="*/ 0 w 6858000"/>
              <a:gd name="connsiteY4" fmla="*/ 81793 h 7615655"/>
              <a:gd name="connsiteX5" fmla="*/ 0 w 6858000"/>
              <a:gd name="connsiteY5" fmla="*/ 0 h 7615655"/>
              <a:gd name="connsiteX6" fmla="*/ 1092812 w 6858000"/>
              <a:gd name="connsiteY6" fmla="*/ 0 h 7615655"/>
              <a:gd name="connsiteX7" fmla="*/ 5779244 w 6858000"/>
              <a:gd name="connsiteY7" fmla="*/ 0 h 7615655"/>
              <a:gd name="connsiteX8" fmla="*/ 6858000 w 6858000"/>
              <a:gd name="connsiteY8" fmla="*/ 0 h 7615655"/>
              <a:gd name="connsiteX9" fmla="*/ 6858000 w 6858000"/>
              <a:gd name="connsiteY9" fmla="*/ 81793 h 7615655"/>
              <a:gd name="connsiteX10" fmla="*/ 5779244 w 6858000"/>
              <a:gd name="connsiteY10" fmla="*/ 81793 h 7615655"/>
              <a:gd name="connsiteX11" fmla="*/ 5779244 w 6858000"/>
              <a:gd name="connsiteY11" fmla="*/ 7533862 h 7615655"/>
              <a:gd name="connsiteX12" fmla="*/ 6858000 w 6858000"/>
              <a:gd name="connsiteY12" fmla="*/ 7533862 h 7615655"/>
              <a:gd name="connsiteX13" fmla="*/ 6858000 w 6858000"/>
              <a:gd name="connsiteY13" fmla="*/ 7615655 h 7615655"/>
              <a:gd name="connsiteX14" fmla="*/ 5779244 w 6858000"/>
              <a:gd name="connsiteY14" fmla="*/ 7615655 h 7615655"/>
              <a:gd name="connsiteX15" fmla="*/ 1092812 w 6858000"/>
              <a:gd name="connsiteY15" fmla="*/ 7615655 h 7615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7615655">
                <a:moveTo>
                  <a:pt x="0" y="7615655"/>
                </a:moveTo>
                <a:lnTo>
                  <a:pt x="0" y="7533862"/>
                </a:lnTo>
                <a:lnTo>
                  <a:pt x="1092812" y="7533862"/>
                </a:lnTo>
                <a:lnTo>
                  <a:pt x="1092812" y="81793"/>
                </a:lnTo>
                <a:lnTo>
                  <a:pt x="0" y="81793"/>
                </a:lnTo>
                <a:lnTo>
                  <a:pt x="0" y="0"/>
                </a:lnTo>
                <a:lnTo>
                  <a:pt x="1092812" y="0"/>
                </a:lnTo>
                <a:lnTo>
                  <a:pt x="5779244" y="0"/>
                </a:lnTo>
                <a:lnTo>
                  <a:pt x="6858000" y="0"/>
                </a:lnTo>
                <a:lnTo>
                  <a:pt x="6858000" y="81793"/>
                </a:lnTo>
                <a:lnTo>
                  <a:pt x="5779244" y="81793"/>
                </a:lnTo>
                <a:lnTo>
                  <a:pt x="5779244" y="7533862"/>
                </a:lnTo>
                <a:lnTo>
                  <a:pt x="6858000" y="7533862"/>
                </a:lnTo>
                <a:lnTo>
                  <a:pt x="6858000" y="7615655"/>
                </a:lnTo>
                <a:lnTo>
                  <a:pt x="5779244" y="7615655"/>
                </a:lnTo>
                <a:lnTo>
                  <a:pt x="1092812" y="7615655"/>
                </a:lnTo>
                <a:close/>
              </a:path>
            </a:pathLst>
          </a:cu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0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32908CD-676C-4648-B018-5E2445430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6401" y="2043953"/>
            <a:ext cx="5780846" cy="1765198"/>
          </a:xfrm>
        </p:spPr>
        <p:txBody>
          <a:bodyPr>
            <a:normAutofit/>
          </a:bodyPr>
          <a:lstStyle/>
          <a:p>
            <a:r>
              <a:rPr lang="es-CO" sz="3200">
                <a:solidFill>
                  <a:schemeClr val="bg1"/>
                </a:solidFill>
              </a:rPr>
              <a:t>PROYECTO APLICADO ENTRENAMIENTO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2A30F8F-7097-C442-9DB6-816F216EA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6401" y="3901226"/>
            <a:ext cx="5780846" cy="1020397"/>
          </a:xfrm>
        </p:spPr>
        <p:txBody>
          <a:bodyPr>
            <a:normAutofit/>
          </a:bodyPr>
          <a:lstStyle/>
          <a:p>
            <a:r>
              <a:rPr lang="es-CO" sz="1600">
                <a:solidFill>
                  <a:schemeClr val="bg1"/>
                </a:solidFill>
              </a:rPr>
              <a:t>INTERNET DE LAS COSAS</a:t>
            </a:r>
          </a:p>
        </p:txBody>
      </p:sp>
    </p:spTree>
    <p:extLst>
      <p:ext uri="{BB962C8B-B14F-4D97-AF65-F5344CB8AC3E}">
        <p14:creationId xmlns:p14="http://schemas.microsoft.com/office/powerpoint/2010/main" val="313777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CO" sz="2800"/>
              <a:t>Temas de hoy</a:t>
            </a: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71AD6A0A-4C89-45E5-A309-A67535C95E1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77894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90312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ARQUITECTURA</a:t>
            </a:r>
          </a:p>
        </p:txBody>
      </p:sp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21" y="5271788"/>
            <a:ext cx="914400" cy="914400"/>
          </a:xfrm>
          <a:prstGeom prst="rect">
            <a:avLst/>
          </a:prstGeom>
        </p:spPr>
      </p:pic>
      <p:pic>
        <p:nvPicPr>
          <p:cNvPr id="10" name="Gráfico 9" descr="Base de datos">
            <a:extLst>
              <a:ext uri="{FF2B5EF4-FFF2-40B4-BE49-F238E27FC236}">
                <a16:creationId xmlns:a16="http://schemas.microsoft.com/office/drawing/2014/main" id="{DA85E6F6-F4AE-F540-814F-A72F14C818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55461" y="1397281"/>
            <a:ext cx="914400" cy="914400"/>
          </a:xfrm>
          <a:prstGeom prst="rect">
            <a:avLst/>
          </a:prstGeom>
        </p:spPr>
      </p:pic>
      <p:pic>
        <p:nvPicPr>
          <p:cNvPr id="12" name="Gráfico 11" descr="Grupo">
            <a:extLst>
              <a:ext uri="{FF2B5EF4-FFF2-40B4-BE49-F238E27FC236}">
                <a16:creationId xmlns:a16="http://schemas.microsoft.com/office/drawing/2014/main" id="{041E884C-AA92-734B-8FC9-5BA1B8C25E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6263" y="4568973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87644" y="5307714"/>
            <a:ext cx="914400" cy="914400"/>
          </a:xfrm>
          <a:prstGeom prst="rect">
            <a:avLst/>
          </a:prstGeom>
        </p:spPr>
      </p:pic>
      <p:pic>
        <p:nvPicPr>
          <p:cNvPr id="26" name="Gráfico 25" descr="Enrutador inalámbrico">
            <a:extLst>
              <a:ext uri="{FF2B5EF4-FFF2-40B4-BE49-F238E27FC236}">
                <a16:creationId xmlns:a16="http://schemas.microsoft.com/office/drawing/2014/main" id="{52C3FC85-BA32-E644-9CD6-58B3ECC0444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41108" y="1921163"/>
            <a:ext cx="914400" cy="914400"/>
          </a:xfrm>
          <a:prstGeom prst="rect">
            <a:avLst/>
          </a:prstGeom>
        </p:spPr>
      </p:pic>
      <p:pic>
        <p:nvPicPr>
          <p:cNvPr id="28" name="Gráfico 27" descr="Torre de telecomunicaciones">
            <a:extLst>
              <a:ext uri="{FF2B5EF4-FFF2-40B4-BE49-F238E27FC236}">
                <a16:creationId xmlns:a16="http://schemas.microsoft.com/office/drawing/2014/main" id="{08DD0E27-5A12-0F4E-BECE-ABEBCC69852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740717" y="1921163"/>
            <a:ext cx="914400" cy="914400"/>
          </a:xfrm>
          <a:prstGeom prst="rect">
            <a:avLst/>
          </a:prstGeom>
        </p:spPr>
      </p:pic>
      <p:pic>
        <p:nvPicPr>
          <p:cNvPr id="30" name="Gráfico 29" descr="Smartphone">
            <a:extLst>
              <a:ext uri="{FF2B5EF4-FFF2-40B4-BE49-F238E27FC236}">
                <a16:creationId xmlns:a16="http://schemas.microsoft.com/office/drawing/2014/main" id="{F00EED10-B3E9-F54A-A9A4-BD62C6D5AD5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91898" y="5022807"/>
            <a:ext cx="1390910" cy="139091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960164" y="4028228"/>
            <a:ext cx="914400" cy="914400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CBA4750F-9618-3545-8ECE-74A0A297C1E1}"/>
              </a:ext>
            </a:extLst>
          </p:cNvPr>
          <p:cNvSpPr txBox="1"/>
          <p:nvPr/>
        </p:nvSpPr>
        <p:spPr>
          <a:xfrm>
            <a:off x="2120585" y="2758647"/>
            <a:ext cx="9451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colector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C128328-57F3-4044-869D-9372771D0300}"/>
              </a:ext>
            </a:extLst>
          </p:cNvPr>
          <p:cNvSpPr txBox="1"/>
          <p:nvPr/>
        </p:nvSpPr>
        <p:spPr>
          <a:xfrm>
            <a:off x="3541716" y="2805141"/>
            <a:ext cx="95962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gateway</a:t>
            </a:r>
          </a:p>
        </p:txBody>
      </p:sp>
      <p:pic>
        <p:nvPicPr>
          <p:cNvPr id="40" name="Gráfico 39" descr="Servidor">
            <a:extLst>
              <a:ext uri="{FF2B5EF4-FFF2-40B4-BE49-F238E27FC236}">
                <a16:creationId xmlns:a16="http://schemas.microsoft.com/office/drawing/2014/main" id="{7FE0FEFD-FC9E-6F44-A596-A16E02CE179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788827" y="2373190"/>
            <a:ext cx="914400" cy="914400"/>
          </a:xfrm>
          <a:prstGeom prst="rect">
            <a:avLst/>
          </a:prstGeom>
        </p:spPr>
      </p:pic>
      <p:sp>
        <p:nvSpPr>
          <p:cNvPr id="43" name="Flecha derecha 42">
            <a:extLst>
              <a:ext uri="{FF2B5EF4-FFF2-40B4-BE49-F238E27FC236}">
                <a16:creationId xmlns:a16="http://schemas.microsoft.com/office/drawing/2014/main" id="{04727671-958B-4740-947A-F6D884DAF76F}"/>
              </a:ext>
            </a:extLst>
          </p:cNvPr>
          <p:cNvSpPr/>
          <p:nvPr/>
        </p:nvSpPr>
        <p:spPr>
          <a:xfrm>
            <a:off x="1438527" y="2192092"/>
            <a:ext cx="702581" cy="47608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Flecha derecha 45">
            <a:extLst>
              <a:ext uri="{FF2B5EF4-FFF2-40B4-BE49-F238E27FC236}">
                <a16:creationId xmlns:a16="http://schemas.microsoft.com/office/drawing/2014/main" id="{A4200B08-EC7C-B74B-9F44-22CEB86477D5}"/>
              </a:ext>
            </a:extLst>
          </p:cNvPr>
          <p:cNvSpPr/>
          <p:nvPr/>
        </p:nvSpPr>
        <p:spPr>
          <a:xfrm>
            <a:off x="3113905" y="2192092"/>
            <a:ext cx="702581" cy="47608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5044562" y="5372590"/>
            <a:ext cx="702581" cy="4760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94321B0-0FBC-D547-88F8-EF1737D1F6D2}"/>
              </a:ext>
            </a:extLst>
          </p:cNvPr>
          <p:cNvSpPr txBox="1"/>
          <p:nvPr/>
        </p:nvSpPr>
        <p:spPr>
          <a:xfrm>
            <a:off x="4609214" y="3318286"/>
            <a:ext cx="129779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Distribuidor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4F2480E-12BF-1C4E-ABE9-649C62B9C16C}"/>
              </a:ext>
            </a:extLst>
          </p:cNvPr>
          <p:cNvSpPr txBox="1"/>
          <p:nvPr/>
        </p:nvSpPr>
        <p:spPr>
          <a:xfrm>
            <a:off x="5659189" y="1509022"/>
            <a:ext cx="54373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SQL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3098992" y="4902456"/>
            <a:ext cx="259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DATA – CACHE + MODELO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4173849" y="622905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5812121" y="6229051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MODELO</a:t>
            </a:r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3193B2C3-B2B5-5F42-87C4-3C2E4D1F5872}"/>
              </a:ext>
            </a:extLst>
          </p:cNvPr>
          <p:cNvSpPr/>
          <p:nvPr/>
        </p:nvSpPr>
        <p:spPr>
          <a:xfrm>
            <a:off x="10644526" y="5519525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Usuarios</a:t>
            </a:r>
          </a:p>
        </p:txBody>
      </p:sp>
      <p:sp>
        <p:nvSpPr>
          <p:cNvPr id="3" name="Marco 2">
            <a:extLst>
              <a:ext uri="{FF2B5EF4-FFF2-40B4-BE49-F238E27FC236}">
                <a16:creationId xmlns:a16="http://schemas.microsoft.com/office/drawing/2014/main" id="{1924EBF7-05C0-5D4D-8315-F8E18AC68929}"/>
              </a:ext>
            </a:extLst>
          </p:cNvPr>
          <p:cNvSpPr/>
          <p:nvPr/>
        </p:nvSpPr>
        <p:spPr>
          <a:xfrm>
            <a:off x="92030" y="1324562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Gráfico 4" descr="Indicación">
            <a:extLst>
              <a:ext uri="{FF2B5EF4-FFF2-40B4-BE49-F238E27FC236}">
                <a16:creationId xmlns:a16="http://schemas.microsoft.com/office/drawing/2014/main" id="{6C90BA87-09C8-5A4F-B35A-E18418F72EE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35905" y="1935825"/>
            <a:ext cx="914400" cy="914400"/>
          </a:xfrm>
          <a:prstGeom prst="rect">
            <a:avLst/>
          </a:prstGeom>
        </p:spPr>
      </p:pic>
      <p:pic>
        <p:nvPicPr>
          <p:cNvPr id="9" name="Gráfico 8" descr="Periódico">
            <a:extLst>
              <a:ext uri="{FF2B5EF4-FFF2-40B4-BE49-F238E27FC236}">
                <a16:creationId xmlns:a16="http://schemas.microsoft.com/office/drawing/2014/main" id="{36E95C44-6DDE-7B44-A4E1-30682F59B05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55070" y="1685049"/>
            <a:ext cx="914400" cy="914400"/>
          </a:xfrm>
          <a:prstGeom prst="rect">
            <a:avLst/>
          </a:prstGeom>
        </p:spPr>
      </p:pic>
      <p:pic>
        <p:nvPicPr>
          <p:cNvPr id="41" name="Gráfico 40" descr="Periódico">
            <a:extLst>
              <a:ext uri="{FF2B5EF4-FFF2-40B4-BE49-F238E27FC236}">
                <a16:creationId xmlns:a16="http://schemas.microsoft.com/office/drawing/2014/main" id="{B593C3B9-E30A-8A41-8214-84D80E05E1E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369230" y="2461238"/>
            <a:ext cx="914400" cy="914400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7C842CB0-122C-2647-9DAD-959A97019CD2}"/>
              </a:ext>
            </a:extLst>
          </p:cNvPr>
          <p:cNvSpPr txBox="1"/>
          <p:nvPr/>
        </p:nvSpPr>
        <p:spPr>
          <a:xfrm>
            <a:off x="292376" y="2726030"/>
            <a:ext cx="14702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Sensor pm2.5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1A4BF6B-BC98-BB41-9F15-C7AE1BCCE43D}"/>
              </a:ext>
            </a:extLst>
          </p:cNvPr>
          <p:cNvSpPr txBox="1"/>
          <p:nvPr/>
        </p:nvSpPr>
        <p:spPr>
          <a:xfrm>
            <a:off x="6373165" y="1397281"/>
            <a:ext cx="113351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JSON data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1B4D26A-A986-0A4B-B12A-11FF21CEB569}"/>
              </a:ext>
            </a:extLst>
          </p:cNvPr>
          <p:cNvSpPr txBox="1"/>
          <p:nvPr/>
        </p:nvSpPr>
        <p:spPr>
          <a:xfrm>
            <a:off x="6284997" y="3312660"/>
            <a:ext cx="102784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JSON API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33E78EB-2AFF-9849-A9C0-972F24421399}"/>
              </a:ext>
            </a:extLst>
          </p:cNvPr>
          <p:cNvSpPr txBox="1"/>
          <p:nvPr/>
        </p:nvSpPr>
        <p:spPr>
          <a:xfrm>
            <a:off x="332372" y="3409835"/>
            <a:ext cx="2013308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SIATA</a:t>
            </a:r>
          </a:p>
        </p:txBody>
      </p:sp>
      <p:sp>
        <p:nvSpPr>
          <p:cNvPr id="60" name="Marco 59">
            <a:extLst>
              <a:ext uri="{FF2B5EF4-FFF2-40B4-BE49-F238E27FC236}">
                <a16:creationId xmlns:a16="http://schemas.microsoft.com/office/drawing/2014/main" id="{0B77B95F-7D9F-AA43-80F0-DEF90A3127FE}"/>
              </a:ext>
            </a:extLst>
          </p:cNvPr>
          <p:cNvSpPr/>
          <p:nvPr/>
        </p:nvSpPr>
        <p:spPr>
          <a:xfrm>
            <a:off x="113613" y="4069640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9EEE859-1D93-F04A-81EB-AA3FFE79CA64}"/>
              </a:ext>
            </a:extLst>
          </p:cNvPr>
          <p:cNvSpPr txBox="1"/>
          <p:nvPr/>
        </p:nvSpPr>
        <p:spPr>
          <a:xfrm>
            <a:off x="332372" y="6155618"/>
            <a:ext cx="19413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AWS</a:t>
            </a:r>
          </a:p>
        </p:txBody>
      </p: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890362F8-1455-E947-9993-F9E9973894F6}"/>
              </a:ext>
            </a:extLst>
          </p:cNvPr>
          <p:cNvCxnSpPr>
            <a:cxnSpLocks/>
            <a:stCxn id="9" idx="3"/>
          </p:cNvCxnSpPr>
          <p:nvPr/>
        </p:nvCxnSpPr>
        <p:spPr>
          <a:xfrm flipH="1">
            <a:off x="4940758" y="2142249"/>
            <a:ext cx="2328712" cy="2189183"/>
          </a:xfrm>
          <a:prstGeom prst="bentConnector3">
            <a:avLst>
              <a:gd name="adj1" fmla="val -28141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E2DE0743-9E2D-4B47-8C21-1206C80CE24E}"/>
              </a:ext>
            </a:extLst>
          </p:cNvPr>
          <p:cNvCxnSpPr>
            <a:cxnSpLocks/>
            <a:stCxn id="41" idx="3"/>
          </p:cNvCxnSpPr>
          <p:nvPr/>
        </p:nvCxnSpPr>
        <p:spPr>
          <a:xfrm flipH="1">
            <a:off x="4874566" y="2918438"/>
            <a:ext cx="2409064" cy="1856000"/>
          </a:xfrm>
          <a:prstGeom prst="bentConnector3">
            <a:avLst>
              <a:gd name="adj1" fmla="val -39222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Marco 62">
            <a:extLst>
              <a:ext uri="{FF2B5EF4-FFF2-40B4-BE49-F238E27FC236}">
                <a16:creationId xmlns:a16="http://schemas.microsoft.com/office/drawing/2014/main" id="{B1CFE806-4838-1940-A898-A8283EECDB9B}"/>
              </a:ext>
            </a:extLst>
          </p:cNvPr>
          <p:cNvSpPr/>
          <p:nvPr/>
        </p:nvSpPr>
        <p:spPr>
          <a:xfrm>
            <a:off x="8803465" y="1324562"/>
            <a:ext cx="3056162" cy="5339111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AA2D3F73-06C7-DF43-ACD4-5F5AD0D58B16}"/>
              </a:ext>
            </a:extLst>
          </p:cNvPr>
          <p:cNvCxnSpPr>
            <a:stCxn id="8" idx="3"/>
            <a:endCxn id="30" idx="1"/>
          </p:cNvCxnSpPr>
          <p:nvPr/>
        </p:nvCxnSpPr>
        <p:spPr>
          <a:xfrm flipV="1">
            <a:off x="6726521" y="5718262"/>
            <a:ext cx="2465377" cy="10726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2A49E28-F042-E44A-BB31-50DF0BEEF2D0}"/>
              </a:ext>
            </a:extLst>
          </p:cNvPr>
          <p:cNvSpPr txBox="1"/>
          <p:nvPr/>
        </p:nvSpPr>
        <p:spPr>
          <a:xfrm>
            <a:off x="10600552" y="6123543"/>
            <a:ext cx="98379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APP</a:t>
            </a:r>
          </a:p>
        </p:txBody>
      </p:sp>
      <p:pic>
        <p:nvPicPr>
          <p:cNvPr id="68" name="Gráfico 67" descr="Sexo">
            <a:extLst>
              <a:ext uri="{FF2B5EF4-FFF2-40B4-BE49-F238E27FC236}">
                <a16:creationId xmlns:a16="http://schemas.microsoft.com/office/drawing/2014/main" id="{6AA4E6B5-281D-5B45-A383-D429AE2F16F2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82808" y="1983193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FB1C3701-E0A9-754A-B7BE-2B4BCEDD487D}"/>
              </a:ext>
            </a:extLst>
          </p:cNvPr>
          <p:cNvSpPr txBox="1"/>
          <p:nvPr/>
        </p:nvSpPr>
        <p:spPr>
          <a:xfrm>
            <a:off x="9469200" y="300630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GPS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8DE102C-08B3-0243-87ED-86BC3A1287C7}"/>
              </a:ext>
            </a:extLst>
          </p:cNvPr>
          <p:cNvSpPr txBox="1"/>
          <p:nvPr/>
        </p:nvSpPr>
        <p:spPr>
          <a:xfrm>
            <a:off x="10665309" y="3006306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EDAD</a:t>
            </a:r>
          </a:p>
        </p:txBody>
      </p:sp>
      <p:pic>
        <p:nvPicPr>
          <p:cNvPr id="72" name="Gráfico 71" descr="Marcador">
            <a:extLst>
              <a:ext uri="{FF2B5EF4-FFF2-40B4-BE49-F238E27FC236}">
                <a16:creationId xmlns:a16="http://schemas.microsoft.com/office/drawing/2014/main" id="{A76AC312-C6E6-8C44-AC38-E9B22715A8C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244526" y="1983193"/>
            <a:ext cx="914400" cy="914400"/>
          </a:xfrm>
          <a:prstGeom prst="rect">
            <a:avLst/>
          </a:prstGeom>
        </p:spPr>
      </p:pic>
      <p:pic>
        <p:nvPicPr>
          <p:cNvPr id="74" name="Gráfico 73" descr="Imagen">
            <a:extLst>
              <a:ext uri="{FF2B5EF4-FFF2-40B4-BE49-F238E27FC236}">
                <a16:creationId xmlns:a16="http://schemas.microsoft.com/office/drawing/2014/main" id="{B75A8666-BD6C-8549-A92E-772AD182EE78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64040" y="3794157"/>
            <a:ext cx="914400" cy="914400"/>
          </a:xfrm>
          <a:prstGeom prst="rect">
            <a:avLst/>
          </a:prstGeom>
        </p:spPr>
      </p:pic>
      <p:cxnSp>
        <p:nvCxnSpPr>
          <p:cNvPr id="76" name="Conector angular 75">
            <a:extLst>
              <a:ext uri="{FF2B5EF4-FFF2-40B4-BE49-F238E27FC236}">
                <a16:creationId xmlns:a16="http://schemas.microsoft.com/office/drawing/2014/main" id="{741D9FAC-AC9C-334B-805C-45DF94FC8181}"/>
              </a:ext>
            </a:extLst>
          </p:cNvPr>
          <p:cNvCxnSpPr>
            <a:stCxn id="30" idx="0"/>
            <a:endCxn id="74" idx="1"/>
          </p:cNvCxnSpPr>
          <p:nvPr/>
        </p:nvCxnSpPr>
        <p:spPr>
          <a:xfrm rot="5400000" flipH="1" flipV="1">
            <a:off x="9839971" y="4298739"/>
            <a:ext cx="771450" cy="67668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904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CAPTURANDO LA DATA DE PM2.5</a:t>
            </a:r>
          </a:p>
        </p:txBody>
      </p:sp>
      <p:pic>
        <p:nvPicPr>
          <p:cNvPr id="10" name="Gráfico 9" descr="Base de datos">
            <a:extLst>
              <a:ext uri="{FF2B5EF4-FFF2-40B4-BE49-F238E27FC236}">
                <a16:creationId xmlns:a16="http://schemas.microsoft.com/office/drawing/2014/main" id="{DA85E6F6-F4AE-F540-814F-A72F14C818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5461" y="1397281"/>
            <a:ext cx="914400" cy="914400"/>
          </a:xfrm>
          <a:prstGeom prst="rect">
            <a:avLst/>
          </a:prstGeom>
        </p:spPr>
      </p:pic>
      <p:pic>
        <p:nvPicPr>
          <p:cNvPr id="26" name="Gráfico 25" descr="Enrutador inalámbrico">
            <a:extLst>
              <a:ext uri="{FF2B5EF4-FFF2-40B4-BE49-F238E27FC236}">
                <a16:creationId xmlns:a16="http://schemas.microsoft.com/office/drawing/2014/main" id="{52C3FC85-BA32-E644-9CD6-58B3ECC044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41108" y="1921163"/>
            <a:ext cx="914400" cy="914400"/>
          </a:xfrm>
          <a:prstGeom prst="rect">
            <a:avLst/>
          </a:prstGeom>
        </p:spPr>
      </p:pic>
      <p:pic>
        <p:nvPicPr>
          <p:cNvPr id="28" name="Gráfico 27" descr="Torre de telecomunicaciones">
            <a:extLst>
              <a:ext uri="{FF2B5EF4-FFF2-40B4-BE49-F238E27FC236}">
                <a16:creationId xmlns:a16="http://schemas.microsoft.com/office/drawing/2014/main" id="{08DD0E27-5A12-0F4E-BECE-ABEBCC6985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0717" y="1921163"/>
            <a:ext cx="914400" cy="914400"/>
          </a:xfrm>
          <a:prstGeom prst="rect">
            <a:avLst/>
          </a:prstGeom>
        </p:spPr>
      </p:pic>
      <p:sp>
        <p:nvSpPr>
          <p:cNvPr id="37" name="CuadroTexto 36">
            <a:extLst>
              <a:ext uri="{FF2B5EF4-FFF2-40B4-BE49-F238E27FC236}">
                <a16:creationId xmlns:a16="http://schemas.microsoft.com/office/drawing/2014/main" id="{CBA4750F-9618-3545-8ECE-74A0A297C1E1}"/>
              </a:ext>
            </a:extLst>
          </p:cNvPr>
          <p:cNvSpPr txBox="1"/>
          <p:nvPr/>
        </p:nvSpPr>
        <p:spPr>
          <a:xfrm>
            <a:off x="2120585" y="2758647"/>
            <a:ext cx="94513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colector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0C128328-57F3-4044-869D-9372771D0300}"/>
              </a:ext>
            </a:extLst>
          </p:cNvPr>
          <p:cNvSpPr txBox="1"/>
          <p:nvPr/>
        </p:nvSpPr>
        <p:spPr>
          <a:xfrm>
            <a:off x="3541716" y="2805141"/>
            <a:ext cx="959622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gateway</a:t>
            </a:r>
          </a:p>
        </p:txBody>
      </p:sp>
      <p:pic>
        <p:nvPicPr>
          <p:cNvPr id="40" name="Gráfico 39" descr="Servidor">
            <a:extLst>
              <a:ext uri="{FF2B5EF4-FFF2-40B4-BE49-F238E27FC236}">
                <a16:creationId xmlns:a16="http://schemas.microsoft.com/office/drawing/2014/main" id="{7FE0FEFD-FC9E-6F44-A596-A16E02CE17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88827" y="2373190"/>
            <a:ext cx="914400" cy="914400"/>
          </a:xfrm>
          <a:prstGeom prst="rect">
            <a:avLst/>
          </a:prstGeom>
        </p:spPr>
      </p:pic>
      <p:sp>
        <p:nvSpPr>
          <p:cNvPr id="43" name="Flecha derecha 42">
            <a:extLst>
              <a:ext uri="{FF2B5EF4-FFF2-40B4-BE49-F238E27FC236}">
                <a16:creationId xmlns:a16="http://schemas.microsoft.com/office/drawing/2014/main" id="{04727671-958B-4740-947A-F6D884DAF76F}"/>
              </a:ext>
            </a:extLst>
          </p:cNvPr>
          <p:cNvSpPr/>
          <p:nvPr/>
        </p:nvSpPr>
        <p:spPr>
          <a:xfrm>
            <a:off x="1438527" y="2192092"/>
            <a:ext cx="702581" cy="47608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6" name="Flecha derecha 45">
            <a:extLst>
              <a:ext uri="{FF2B5EF4-FFF2-40B4-BE49-F238E27FC236}">
                <a16:creationId xmlns:a16="http://schemas.microsoft.com/office/drawing/2014/main" id="{A4200B08-EC7C-B74B-9F44-22CEB86477D5}"/>
              </a:ext>
            </a:extLst>
          </p:cNvPr>
          <p:cNvSpPr/>
          <p:nvPr/>
        </p:nvSpPr>
        <p:spPr>
          <a:xfrm>
            <a:off x="3113905" y="2192092"/>
            <a:ext cx="702581" cy="476080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294321B0-0FBC-D547-88F8-EF1737D1F6D2}"/>
              </a:ext>
            </a:extLst>
          </p:cNvPr>
          <p:cNvSpPr txBox="1"/>
          <p:nvPr/>
        </p:nvSpPr>
        <p:spPr>
          <a:xfrm>
            <a:off x="4609214" y="3318286"/>
            <a:ext cx="129779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Distribuidor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A4F2480E-12BF-1C4E-ABE9-649C62B9C16C}"/>
              </a:ext>
            </a:extLst>
          </p:cNvPr>
          <p:cNvSpPr txBox="1"/>
          <p:nvPr/>
        </p:nvSpPr>
        <p:spPr>
          <a:xfrm>
            <a:off x="5659189" y="1509022"/>
            <a:ext cx="543739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SQL</a:t>
            </a:r>
          </a:p>
        </p:txBody>
      </p:sp>
      <p:sp>
        <p:nvSpPr>
          <p:cNvPr id="3" name="Marco 2">
            <a:extLst>
              <a:ext uri="{FF2B5EF4-FFF2-40B4-BE49-F238E27FC236}">
                <a16:creationId xmlns:a16="http://schemas.microsoft.com/office/drawing/2014/main" id="{1924EBF7-05C0-5D4D-8315-F8E18AC68929}"/>
              </a:ext>
            </a:extLst>
          </p:cNvPr>
          <p:cNvSpPr/>
          <p:nvPr/>
        </p:nvSpPr>
        <p:spPr>
          <a:xfrm>
            <a:off x="92030" y="1324562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5" name="Gráfico 4" descr="Indicación">
            <a:extLst>
              <a:ext uri="{FF2B5EF4-FFF2-40B4-BE49-F238E27FC236}">
                <a16:creationId xmlns:a16="http://schemas.microsoft.com/office/drawing/2014/main" id="{6C90BA87-09C8-5A4F-B35A-E18418F72E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35905" y="1935825"/>
            <a:ext cx="914400" cy="914400"/>
          </a:xfrm>
          <a:prstGeom prst="rect">
            <a:avLst/>
          </a:prstGeom>
        </p:spPr>
      </p:pic>
      <p:pic>
        <p:nvPicPr>
          <p:cNvPr id="9" name="Gráfico 8" descr="Periódico">
            <a:extLst>
              <a:ext uri="{FF2B5EF4-FFF2-40B4-BE49-F238E27FC236}">
                <a16:creationId xmlns:a16="http://schemas.microsoft.com/office/drawing/2014/main" id="{36E95C44-6DDE-7B44-A4E1-30682F59B05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55070" y="1685049"/>
            <a:ext cx="914400" cy="914400"/>
          </a:xfrm>
          <a:prstGeom prst="rect">
            <a:avLst/>
          </a:prstGeom>
        </p:spPr>
      </p:pic>
      <p:pic>
        <p:nvPicPr>
          <p:cNvPr id="41" name="Gráfico 40" descr="Periódico">
            <a:extLst>
              <a:ext uri="{FF2B5EF4-FFF2-40B4-BE49-F238E27FC236}">
                <a16:creationId xmlns:a16="http://schemas.microsoft.com/office/drawing/2014/main" id="{B593C3B9-E30A-8A41-8214-84D80E05E1E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69230" y="2461238"/>
            <a:ext cx="914400" cy="914400"/>
          </a:xfrm>
          <a:prstGeom prst="rect">
            <a:avLst/>
          </a:prstGeom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7C842CB0-122C-2647-9DAD-959A97019CD2}"/>
              </a:ext>
            </a:extLst>
          </p:cNvPr>
          <p:cNvSpPr txBox="1"/>
          <p:nvPr/>
        </p:nvSpPr>
        <p:spPr>
          <a:xfrm>
            <a:off x="292376" y="2726030"/>
            <a:ext cx="147027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Sensor pm2.5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41A4BF6B-BC98-BB41-9F15-C7AE1BCCE43D}"/>
              </a:ext>
            </a:extLst>
          </p:cNvPr>
          <p:cNvSpPr txBox="1"/>
          <p:nvPr/>
        </p:nvSpPr>
        <p:spPr>
          <a:xfrm>
            <a:off x="6373165" y="1397281"/>
            <a:ext cx="113351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JSON data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41B4D26A-A986-0A4B-B12A-11FF21CEB569}"/>
              </a:ext>
            </a:extLst>
          </p:cNvPr>
          <p:cNvSpPr txBox="1"/>
          <p:nvPr/>
        </p:nvSpPr>
        <p:spPr>
          <a:xfrm>
            <a:off x="6284997" y="3312660"/>
            <a:ext cx="102784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tx1">
                    <a:lumMod val="50000"/>
                    <a:lumOff val="50000"/>
                  </a:schemeClr>
                </a:solidFill>
              </a:rPr>
              <a:t>JSON API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B33E78EB-2AFF-9849-A9C0-972F24421399}"/>
              </a:ext>
            </a:extLst>
          </p:cNvPr>
          <p:cNvSpPr txBox="1"/>
          <p:nvPr/>
        </p:nvSpPr>
        <p:spPr>
          <a:xfrm>
            <a:off x="332372" y="3409835"/>
            <a:ext cx="2013308" cy="36933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SIATA</a:t>
            </a:r>
          </a:p>
        </p:txBody>
      </p: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890362F8-1455-E947-9993-F9E9973894F6}"/>
              </a:ext>
            </a:extLst>
          </p:cNvPr>
          <p:cNvCxnSpPr>
            <a:cxnSpLocks/>
            <a:stCxn id="9" idx="3"/>
            <a:endCxn id="15" idx="3"/>
          </p:cNvCxnSpPr>
          <p:nvPr/>
        </p:nvCxnSpPr>
        <p:spPr>
          <a:xfrm>
            <a:off x="7269470" y="2142249"/>
            <a:ext cx="901515" cy="3712313"/>
          </a:xfrm>
          <a:prstGeom prst="bentConnector3">
            <a:avLst>
              <a:gd name="adj1" fmla="val 393235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E2DE0743-9E2D-4B47-8C21-1206C80CE24E}"/>
              </a:ext>
            </a:extLst>
          </p:cNvPr>
          <p:cNvCxnSpPr>
            <a:cxnSpLocks/>
            <a:stCxn id="41" idx="3"/>
            <a:endCxn id="6" idx="3"/>
          </p:cNvCxnSpPr>
          <p:nvPr/>
        </p:nvCxnSpPr>
        <p:spPr>
          <a:xfrm>
            <a:off x="7283630" y="2918438"/>
            <a:ext cx="887355" cy="1715370"/>
          </a:xfrm>
          <a:prstGeom prst="bentConnector3">
            <a:avLst>
              <a:gd name="adj1" fmla="val 286939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A8A0BC0-4511-A348-A562-BD41EF56BC2A}"/>
              </a:ext>
            </a:extLst>
          </p:cNvPr>
          <p:cNvSpPr/>
          <p:nvPr/>
        </p:nvSpPr>
        <p:spPr>
          <a:xfrm>
            <a:off x="493716" y="3941310"/>
            <a:ext cx="7677269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/>
              <a:t>import requests, json</a:t>
            </a:r>
          </a:p>
          <a:p>
            <a:endParaRPr lang="es-CO" sz="1400"/>
          </a:p>
          <a:p>
            <a:r>
              <a:rPr lang="es-CO" sz="1400"/>
              <a:t>url = "http://siata.gov.co:8089/estacionesAirePM25/cf7bb09b4d7d859a2840e22c3f3a9a8039917cc3/"</a:t>
            </a:r>
          </a:p>
          <a:p>
            <a:r>
              <a:rPr lang="es-CO" sz="1400"/>
              <a:t>r= requests.get(url)</a:t>
            </a:r>
          </a:p>
          <a:p>
            <a:r>
              <a:rPr lang="es-CO" sz="1400"/>
              <a:t>data = r.json()</a:t>
            </a:r>
          </a:p>
          <a:p>
            <a:r>
              <a:rPr lang="es-CO" sz="1400"/>
              <a:t>print(data)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C30D61-65E4-464C-854E-03FBCB9C9CAB}"/>
              </a:ext>
            </a:extLst>
          </p:cNvPr>
          <p:cNvSpPr/>
          <p:nvPr/>
        </p:nvSpPr>
        <p:spPr>
          <a:xfrm>
            <a:off x="493716" y="5377508"/>
            <a:ext cx="7677269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/>
              <a:t>url_last = "http://siata.gov.co/EntregaData1/Datos_SIATA_Aire_AQ_pm25_Last.json"</a:t>
            </a:r>
          </a:p>
          <a:p>
            <a:r>
              <a:rPr lang="es-CO" sz="1400"/>
              <a:t>d= requests.get(url_last)</a:t>
            </a:r>
          </a:p>
          <a:p>
            <a:r>
              <a:rPr lang="es-CO" sz="1400"/>
              <a:t>data_last = d.json()</a:t>
            </a:r>
          </a:p>
          <a:p>
            <a:r>
              <a:rPr lang="es-CO" sz="1400"/>
              <a:t>print(data_last)</a:t>
            </a:r>
          </a:p>
        </p:txBody>
      </p:sp>
    </p:spTree>
    <p:extLst>
      <p:ext uri="{BB962C8B-B14F-4D97-AF65-F5344CB8AC3E}">
        <p14:creationId xmlns:p14="http://schemas.microsoft.com/office/powerpoint/2010/main" val="3681822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CAPTURANDO LA DATA DE PM2.5</a:t>
            </a:r>
          </a:p>
        </p:txBody>
      </p:sp>
      <p:cxnSp>
        <p:nvCxnSpPr>
          <p:cNvPr id="13" name="Conector angular 12">
            <a:extLst>
              <a:ext uri="{FF2B5EF4-FFF2-40B4-BE49-F238E27FC236}">
                <a16:creationId xmlns:a16="http://schemas.microsoft.com/office/drawing/2014/main" id="{890362F8-1455-E947-9993-F9E9973894F6}"/>
              </a:ext>
            </a:extLst>
          </p:cNvPr>
          <p:cNvCxnSpPr>
            <a:cxnSpLocks/>
            <a:stCxn id="4" idx="3"/>
            <a:endCxn id="15" idx="3"/>
          </p:cNvCxnSpPr>
          <p:nvPr/>
        </p:nvCxnSpPr>
        <p:spPr>
          <a:xfrm>
            <a:off x="6541477" y="1875354"/>
            <a:ext cx="1629508" cy="3979208"/>
          </a:xfrm>
          <a:prstGeom prst="bentConnector3">
            <a:avLst>
              <a:gd name="adj1" fmla="val 225540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angular 61">
            <a:extLst>
              <a:ext uri="{FF2B5EF4-FFF2-40B4-BE49-F238E27FC236}">
                <a16:creationId xmlns:a16="http://schemas.microsoft.com/office/drawing/2014/main" id="{E2DE0743-9E2D-4B47-8C21-1206C80CE24E}"/>
              </a:ext>
            </a:extLst>
          </p:cNvPr>
          <p:cNvCxnSpPr>
            <a:cxnSpLocks/>
            <a:stCxn id="27" idx="3"/>
            <a:endCxn id="6" idx="3"/>
          </p:cNvCxnSpPr>
          <p:nvPr/>
        </p:nvCxnSpPr>
        <p:spPr>
          <a:xfrm>
            <a:off x="6733232" y="3000665"/>
            <a:ext cx="1437753" cy="1633143"/>
          </a:xfrm>
          <a:prstGeom prst="bentConnector3">
            <a:avLst>
              <a:gd name="adj1" fmla="val 183576"/>
            </a:avLst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ángulo 5">
            <a:extLst>
              <a:ext uri="{FF2B5EF4-FFF2-40B4-BE49-F238E27FC236}">
                <a16:creationId xmlns:a16="http://schemas.microsoft.com/office/drawing/2014/main" id="{5A8A0BC0-4511-A348-A562-BD41EF56BC2A}"/>
              </a:ext>
            </a:extLst>
          </p:cNvPr>
          <p:cNvSpPr/>
          <p:nvPr/>
        </p:nvSpPr>
        <p:spPr>
          <a:xfrm>
            <a:off x="493716" y="3941310"/>
            <a:ext cx="7677269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/>
              <a:t>import requests, json</a:t>
            </a:r>
          </a:p>
          <a:p>
            <a:endParaRPr lang="es-CO" sz="1400"/>
          </a:p>
          <a:p>
            <a:r>
              <a:rPr lang="es-CO" sz="1400"/>
              <a:t>url = "http://siata.gov.co:8089/estacionesAirePM25/cf7bb09b4d7d859a2840e22c3f3a9a8039917cc3/"</a:t>
            </a:r>
          </a:p>
          <a:p>
            <a:r>
              <a:rPr lang="es-CO" sz="1400"/>
              <a:t>r= requests.get(url)</a:t>
            </a:r>
          </a:p>
          <a:p>
            <a:r>
              <a:rPr lang="es-CO" sz="1400"/>
              <a:t>data = r.json()</a:t>
            </a:r>
          </a:p>
          <a:p>
            <a:r>
              <a:rPr lang="es-CO" sz="1400"/>
              <a:t>print(data)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C30D61-65E4-464C-854E-03FBCB9C9CAB}"/>
              </a:ext>
            </a:extLst>
          </p:cNvPr>
          <p:cNvSpPr/>
          <p:nvPr/>
        </p:nvSpPr>
        <p:spPr>
          <a:xfrm>
            <a:off x="493716" y="5377508"/>
            <a:ext cx="7677269" cy="95410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sz="1400"/>
              <a:t>url_last = "http://siata.gov.co/EntregaData1/Datos_SIATA_Aire_AQ_pm25_Last.json"</a:t>
            </a:r>
          </a:p>
          <a:p>
            <a:r>
              <a:rPr lang="es-CO" sz="1400"/>
              <a:t>d= requests.get(url_last)</a:t>
            </a:r>
          </a:p>
          <a:p>
            <a:r>
              <a:rPr lang="es-CO" sz="1400"/>
              <a:t>data_last = d.json()</a:t>
            </a:r>
          </a:p>
          <a:p>
            <a:r>
              <a:rPr lang="es-CO" sz="1400"/>
              <a:t>print(data_last)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24664C-47A7-D249-AD6E-48BC32C796DF}"/>
              </a:ext>
            </a:extLst>
          </p:cNvPr>
          <p:cNvSpPr txBox="1"/>
          <p:nvPr/>
        </p:nvSpPr>
        <p:spPr>
          <a:xfrm>
            <a:off x="838200" y="1690688"/>
            <a:ext cx="570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Informacion de los últimas 24 horas 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2393849-47B2-7F48-BFD2-D114D2774D41}"/>
              </a:ext>
            </a:extLst>
          </p:cNvPr>
          <p:cNvSpPr txBox="1"/>
          <p:nvPr/>
        </p:nvSpPr>
        <p:spPr>
          <a:xfrm>
            <a:off x="1029955" y="2400500"/>
            <a:ext cx="5703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Informacion de la última medición (se actauliza cada minuto), se requiere un token de acceso, estamos usando el token de acceso que dio SIATA a un equipo de desarrolladores de datos abiertos</a:t>
            </a:r>
          </a:p>
        </p:txBody>
      </p:sp>
    </p:spTree>
    <p:extLst>
      <p:ext uri="{BB962C8B-B14F-4D97-AF65-F5344CB8AC3E}">
        <p14:creationId xmlns:p14="http://schemas.microsoft.com/office/powerpoint/2010/main" val="2847520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CAPTURANDO LA DATA DE PM2.5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A2393849-47B2-7F48-BFD2-D114D2774D41}"/>
              </a:ext>
            </a:extLst>
          </p:cNvPr>
          <p:cNvSpPr txBox="1"/>
          <p:nvPr/>
        </p:nvSpPr>
        <p:spPr>
          <a:xfrm>
            <a:off x="1029955" y="2400500"/>
            <a:ext cx="63438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/>
              <a:t>NO HAY CALIDAD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ELIMINAR CUANDO HAY SENSOR DESCONECATADO -99999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CUANDO HAY DESCALIBRACIÓN DEL SENSOR NO HAY MÉTODO PARA IDENTIFICAR, SOLO QUE ESTÁ POR FUERA DEL RANGO MÁXIMO O MÍNIMO DE MEDICIÓN DEL SENSOR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LOS DATOS QUE NO SE LOGRAN EXTRAER SE DEBEN OMITIR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/>
              <a:t>HAY QUE COMPLETAR LOS DATOS PARA EL MODELO CON INTERPOLACIÓN CUANDO NO SE CONOCE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50722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APP MOVIL /PAGÍNA WEB</a:t>
            </a:r>
          </a:p>
        </p:txBody>
      </p:sp>
      <p:pic>
        <p:nvPicPr>
          <p:cNvPr id="12" name="Gráfico 11" descr="Grupo">
            <a:extLst>
              <a:ext uri="{FF2B5EF4-FFF2-40B4-BE49-F238E27FC236}">
                <a16:creationId xmlns:a16="http://schemas.microsoft.com/office/drawing/2014/main" id="{041E884C-AA92-734B-8FC9-5BA1B8C25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56263" y="4568973"/>
            <a:ext cx="914400" cy="914400"/>
          </a:xfrm>
          <a:prstGeom prst="rect">
            <a:avLst/>
          </a:prstGeom>
        </p:spPr>
      </p:pic>
      <p:pic>
        <p:nvPicPr>
          <p:cNvPr id="30" name="Gráfico 29" descr="Smartphone">
            <a:extLst>
              <a:ext uri="{FF2B5EF4-FFF2-40B4-BE49-F238E27FC236}">
                <a16:creationId xmlns:a16="http://schemas.microsoft.com/office/drawing/2014/main" id="{F00EED10-B3E9-F54A-A9A4-BD62C6D5A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91898" y="5022807"/>
            <a:ext cx="1390910" cy="1390910"/>
          </a:xfrm>
          <a:prstGeom prst="rect">
            <a:avLst/>
          </a:prstGeom>
        </p:spPr>
      </p:pic>
      <p:sp>
        <p:nvSpPr>
          <p:cNvPr id="49" name="Rectángulo 48">
            <a:extLst>
              <a:ext uri="{FF2B5EF4-FFF2-40B4-BE49-F238E27FC236}">
                <a16:creationId xmlns:a16="http://schemas.microsoft.com/office/drawing/2014/main" id="{3193B2C3-B2B5-5F42-87C4-3C2E4D1F5872}"/>
              </a:ext>
            </a:extLst>
          </p:cNvPr>
          <p:cNvSpPr/>
          <p:nvPr/>
        </p:nvSpPr>
        <p:spPr>
          <a:xfrm>
            <a:off x="10644526" y="5519525"/>
            <a:ext cx="998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/>
              <a:t>Usuarios</a:t>
            </a:r>
          </a:p>
        </p:txBody>
      </p:sp>
      <p:sp>
        <p:nvSpPr>
          <p:cNvPr id="63" name="Marco 62">
            <a:extLst>
              <a:ext uri="{FF2B5EF4-FFF2-40B4-BE49-F238E27FC236}">
                <a16:creationId xmlns:a16="http://schemas.microsoft.com/office/drawing/2014/main" id="{B1CFE806-4838-1940-A898-A8283EECDB9B}"/>
              </a:ext>
            </a:extLst>
          </p:cNvPr>
          <p:cNvSpPr/>
          <p:nvPr/>
        </p:nvSpPr>
        <p:spPr>
          <a:xfrm>
            <a:off x="8803465" y="1324562"/>
            <a:ext cx="3056162" cy="5339111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2A49E28-F042-E44A-BB31-50DF0BEEF2D0}"/>
              </a:ext>
            </a:extLst>
          </p:cNvPr>
          <p:cNvSpPr txBox="1"/>
          <p:nvPr/>
        </p:nvSpPr>
        <p:spPr>
          <a:xfrm>
            <a:off x="10600552" y="6123543"/>
            <a:ext cx="983798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APP</a:t>
            </a:r>
          </a:p>
        </p:txBody>
      </p:sp>
      <p:pic>
        <p:nvPicPr>
          <p:cNvPr id="68" name="Gráfico 67" descr="Sexo">
            <a:extLst>
              <a:ext uri="{FF2B5EF4-FFF2-40B4-BE49-F238E27FC236}">
                <a16:creationId xmlns:a16="http://schemas.microsoft.com/office/drawing/2014/main" id="{6AA4E6B5-281D-5B45-A383-D429AE2F1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82808" y="1983193"/>
            <a:ext cx="914400" cy="914400"/>
          </a:xfrm>
          <a:prstGeom prst="rect">
            <a:avLst/>
          </a:prstGeom>
        </p:spPr>
      </p:pic>
      <p:sp>
        <p:nvSpPr>
          <p:cNvPr id="69" name="CuadroTexto 68">
            <a:extLst>
              <a:ext uri="{FF2B5EF4-FFF2-40B4-BE49-F238E27FC236}">
                <a16:creationId xmlns:a16="http://schemas.microsoft.com/office/drawing/2014/main" id="{FB1C3701-E0A9-754A-B7BE-2B4BCEDD487D}"/>
              </a:ext>
            </a:extLst>
          </p:cNvPr>
          <p:cNvSpPr txBox="1"/>
          <p:nvPr/>
        </p:nvSpPr>
        <p:spPr>
          <a:xfrm>
            <a:off x="9469200" y="3006306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GPS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8DE102C-08B3-0243-87ED-86BC3A1287C7}"/>
              </a:ext>
            </a:extLst>
          </p:cNvPr>
          <p:cNvSpPr txBox="1"/>
          <p:nvPr/>
        </p:nvSpPr>
        <p:spPr>
          <a:xfrm>
            <a:off x="10665309" y="3006306"/>
            <a:ext cx="71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EDAD</a:t>
            </a:r>
          </a:p>
        </p:txBody>
      </p:sp>
      <p:pic>
        <p:nvPicPr>
          <p:cNvPr id="72" name="Gráfico 71" descr="Marcador">
            <a:extLst>
              <a:ext uri="{FF2B5EF4-FFF2-40B4-BE49-F238E27FC236}">
                <a16:creationId xmlns:a16="http://schemas.microsoft.com/office/drawing/2014/main" id="{A76AC312-C6E6-8C44-AC38-E9B22715A8C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44526" y="1983193"/>
            <a:ext cx="914400" cy="914400"/>
          </a:xfrm>
          <a:prstGeom prst="rect">
            <a:avLst/>
          </a:prstGeom>
        </p:spPr>
      </p:pic>
      <p:pic>
        <p:nvPicPr>
          <p:cNvPr id="74" name="Gráfico 73" descr="Imagen">
            <a:extLst>
              <a:ext uri="{FF2B5EF4-FFF2-40B4-BE49-F238E27FC236}">
                <a16:creationId xmlns:a16="http://schemas.microsoft.com/office/drawing/2014/main" id="{B75A8666-BD6C-8549-A92E-772AD182EE7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64040" y="3794157"/>
            <a:ext cx="914400" cy="914400"/>
          </a:xfrm>
          <a:prstGeom prst="rect">
            <a:avLst/>
          </a:prstGeom>
        </p:spPr>
      </p:pic>
      <p:cxnSp>
        <p:nvCxnSpPr>
          <p:cNvPr id="76" name="Conector angular 75">
            <a:extLst>
              <a:ext uri="{FF2B5EF4-FFF2-40B4-BE49-F238E27FC236}">
                <a16:creationId xmlns:a16="http://schemas.microsoft.com/office/drawing/2014/main" id="{741D9FAC-AC9C-334B-805C-45DF94FC8181}"/>
              </a:ext>
            </a:extLst>
          </p:cNvPr>
          <p:cNvCxnSpPr>
            <a:stCxn id="30" idx="0"/>
            <a:endCxn id="74" idx="1"/>
          </p:cNvCxnSpPr>
          <p:nvPr/>
        </p:nvCxnSpPr>
        <p:spPr>
          <a:xfrm rot="5400000" flipH="1" flipV="1">
            <a:off x="9839971" y="4298739"/>
            <a:ext cx="771450" cy="676687"/>
          </a:xfrm>
          <a:prstGeom prst="bentConnector2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BABCF11A-88FB-644E-B0A1-D0B157975833}"/>
              </a:ext>
            </a:extLst>
          </p:cNvPr>
          <p:cNvSpPr txBox="1"/>
          <p:nvPr/>
        </p:nvSpPr>
        <p:spPr>
          <a:xfrm>
            <a:off x="694792" y="1805977"/>
            <a:ext cx="683185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Cuando el sensor de ubicación cambie. </a:t>
            </a:r>
          </a:p>
          <a:p>
            <a:r>
              <a:rPr lang="es-CO"/>
              <a:t>Poner </a:t>
            </a:r>
          </a:p>
          <a:p>
            <a:r>
              <a:rPr lang="es-CO"/>
              <a:t>Lon = longitud sensor</a:t>
            </a:r>
          </a:p>
          <a:p>
            <a:r>
              <a:rPr lang="es-CO"/>
              <a:t>Lat = latitud sensor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A7C66D07-F96F-9D4C-920C-1CF84C62A6BD}"/>
              </a:ext>
            </a:extLst>
          </p:cNvPr>
          <p:cNvSpPr txBox="1"/>
          <p:nvPr/>
        </p:nvSpPr>
        <p:spPr>
          <a:xfrm>
            <a:off x="694792" y="3135613"/>
            <a:ext cx="681308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Cuando el usuario ponga la edad</a:t>
            </a:r>
          </a:p>
          <a:p>
            <a:r>
              <a:rPr lang="es-CO"/>
              <a:t>Poner edad = entrada usuario</a:t>
            </a:r>
          </a:p>
        </p:txBody>
      </p:sp>
      <p:sp>
        <p:nvSpPr>
          <p:cNvPr id="48" name="CuadroTexto 47">
            <a:extLst>
              <a:ext uri="{FF2B5EF4-FFF2-40B4-BE49-F238E27FC236}">
                <a16:creationId xmlns:a16="http://schemas.microsoft.com/office/drawing/2014/main" id="{E475883C-682F-C54F-A7F5-D7D943E15C59}"/>
              </a:ext>
            </a:extLst>
          </p:cNvPr>
          <p:cNvSpPr txBox="1"/>
          <p:nvPr/>
        </p:nvSpPr>
        <p:spPr>
          <a:xfrm>
            <a:off x="713560" y="3911251"/>
            <a:ext cx="6813086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Cuando el usuario consultar</a:t>
            </a:r>
          </a:p>
          <a:p>
            <a:r>
              <a:rPr lang="es-CO"/>
              <a:t>Hacer un post a la URL </a:t>
            </a:r>
            <a:r>
              <a:rPr lang="es-CO" u="sng"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http://IP/senddata=Lon=longitud;Lat=latitud</a:t>
            </a:r>
            <a:r>
              <a:rPr lang="es-CO" u="sng"/>
              <a:t>;Edad=edad</a:t>
            </a:r>
          </a:p>
          <a:p>
            <a:endParaRPr lang="es-CO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3DE4FF0-8E8E-1E42-964D-6EE4648AAA51}"/>
              </a:ext>
            </a:extLst>
          </p:cNvPr>
          <p:cNvSpPr txBox="1"/>
          <p:nvPr/>
        </p:nvSpPr>
        <p:spPr>
          <a:xfrm>
            <a:off x="713560" y="5256707"/>
            <a:ext cx="681308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Cuando llegue response del post de la URL hacer</a:t>
            </a:r>
          </a:p>
          <a:p>
            <a:r>
              <a:rPr lang="es-CO"/>
              <a:t>Colocar indicador AQI = indice AQI</a:t>
            </a:r>
          </a:p>
          <a:p>
            <a:r>
              <a:rPr lang="es-CO"/>
              <a:t>Colocar recomendación de acuerdo al AQI</a:t>
            </a:r>
          </a:p>
        </p:txBody>
      </p:sp>
    </p:spTree>
    <p:extLst>
      <p:ext uri="{BB962C8B-B14F-4D97-AF65-F5344CB8AC3E}">
        <p14:creationId xmlns:p14="http://schemas.microsoft.com/office/powerpoint/2010/main" val="627513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SERVER AWS</a:t>
            </a:r>
          </a:p>
        </p:txBody>
      </p:sp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21" y="5271788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7644" y="5307714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0164" y="4028228"/>
            <a:ext cx="914400" cy="914400"/>
          </a:xfrm>
          <a:prstGeom prst="rect">
            <a:avLst/>
          </a:prstGeom>
        </p:spPr>
      </p:pic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5044562" y="5372590"/>
            <a:ext cx="702581" cy="4760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3098992" y="4902456"/>
            <a:ext cx="259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DATA – CACHE + MODELO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4173849" y="622905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5812121" y="6229051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MODELO</a:t>
            </a:r>
          </a:p>
        </p:txBody>
      </p:sp>
      <p:sp>
        <p:nvSpPr>
          <p:cNvPr id="60" name="Marco 59">
            <a:extLst>
              <a:ext uri="{FF2B5EF4-FFF2-40B4-BE49-F238E27FC236}">
                <a16:creationId xmlns:a16="http://schemas.microsoft.com/office/drawing/2014/main" id="{0B77B95F-7D9F-AA43-80F0-DEF90A3127FE}"/>
              </a:ext>
            </a:extLst>
          </p:cNvPr>
          <p:cNvSpPr/>
          <p:nvPr/>
        </p:nvSpPr>
        <p:spPr>
          <a:xfrm>
            <a:off x="113613" y="4069640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9EEE859-1D93-F04A-81EB-AA3FFE79CA64}"/>
              </a:ext>
            </a:extLst>
          </p:cNvPr>
          <p:cNvSpPr txBox="1"/>
          <p:nvPr/>
        </p:nvSpPr>
        <p:spPr>
          <a:xfrm>
            <a:off x="332372" y="6155618"/>
            <a:ext cx="19413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AWS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DF0F82-50CF-CF42-98FD-69A58F0580A2}"/>
              </a:ext>
            </a:extLst>
          </p:cNvPr>
          <p:cNvSpPr txBox="1"/>
          <p:nvPr/>
        </p:nvSpPr>
        <p:spPr>
          <a:xfrm>
            <a:off x="332371" y="1436014"/>
            <a:ext cx="733969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Cuando reciba un post</a:t>
            </a:r>
          </a:p>
          <a:p>
            <a:r>
              <a:rPr lang="es-CO"/>
              <a:t>Capturar longitud, latitud, edad</a:t>
            </a:r>
          </a:p>
          <a:p>
            <a:pPr marL="342900" indent="-342900">
              <a:buAutoNum type="arabicPeriod"/>
            </a:pPr>
            <a:r>
              <a:rPr lang="es-CO"/>
              <a:t>Estimado_pm25 = Funcion calcular valor pm2.5 en (longitud, latitud)</a:t>
            </a:r>
          </a:p>
          <a:p>
            <a:pPr marL="342900" indent="-342900">
              <a:buAutoNum type="arabicPeriod"/>
            </a:pPr>
            <a:r>
              <a:rPr lang="es-CO"/>
              <a:t>Estimado_AQI = calcular el valor del AQI (Estimado_pm25)</a:t>
            </a:r>
          </a:p>
          <a:p>
            <a:pPr marL="342900" indent="-342900">
              <a:buAutoNum type="arabicPeriod"/>
            </a:pPr>
            <a:r>
              <a:rPr lang="es-CO"/>
              <a:t>Recomendación_AQI = recomendador(AQI, edad)</a:t>
            </a:r>
          </a:p>
          <a:p>
            <a:pPr marL="342900" indent="-342900">
              <a:buAutoNum type="arabicPeriod"/>
            </a:pPr>
            <a:r>
              <a:rPr lang="es-CO"/>
              <a:t>Enviar un response con (Estimado_AQI;Recomendación_AQI)</a:t>
            </a:r>
          </a:p>
          <a:p>
            <a:pPr marL="342900" indent="-342900">
              <a:buAutoNum type="arabicPeriod"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0499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SERVER AWS</a:t>
            </a:r>
          </a:p>
        </p:txBody>
      </p:sp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21" y="5271788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7644" y="5307714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0164" y="4028228"/>
            <a:ext cx="914400" cy="914400"/>
          </a:xfrm>
          <a:prstGeom prst="rect">
            <a:avLst/>
          </a:prstGeom>
        </p:spPr>
      </p:pic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5044562" y="5372590"/>
            <a:ext cx="702581" cy="4760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3098992" y="4902456"/>
            <a:ext cx="259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DATA – CACHE + MODELO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4173849" y="622905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5812121" y="6229051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MODELO</a:t>
            </a:r>
          </a:p>
        </p:txBody>
      </p:sp>
      <p:sp>
        <p:nvSpPr>
          <p:cNvPr id="60" name="Marco 59">
            <a:extLst>
              <a:ext uri="{FF2B5EF4-FFF2-40B4-BE49-F238E27FC236}">
                <a16:creationId xmlns:a16="http://schemas.microsoft.com/office/drawing/2014/main" id="{0B77B95F-7D9F-AA43-80F0-DEF90A3127FE}"/>
              </a:ext>
            </a:extLst>
          </p:cNvPr>
          <p:cNvSpPr/>
          <p:nvPr/>
        </p:nvSpPr>
        <p:spPr>
          <a:xfrm>
            <a:off x="113613" y="4069640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9EEE859-1D93-F04A-81EB-AA3FFE79CA64}"/>
              </a:ext>
            </a:extLst>
          </p:cNvPr>
          <p:cNvSpPr txBox="1"/>
          <p:nvPr/>
        </p:nvSpPr>
        <p:spPr>
          <a:xfrm>
            <a:off x="332372" y="6155618"/>
            <a:ext cx="19413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AWS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DF0F82-50CF-CF42-98FD-69A58F0580A2}"/>
              </a:ext>
            </a:extLst>
          </p:cNvPr>
          <p:cNvSpPr txBox="1"/>
          <p:nvPr/>
        </p:nvSpPr>
        <p:spPr>
          <a:xfrm>
            <a:off x="332371" y="1436014"/>
            <a:ext cx="733969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Cuando reciba un post</a:t>
            </a:r>
          </a:p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Capturar longitud, latitud, edad</a:t>
            </a:r>
          </a:p>
          <a:p>
            <a:pPr marL="342900" indent="-342900">
              <a:buAutoNum type="arabicPeriod"/>
            </a:pPr>
            <a:r>
              <a:rPr lang="es-CO"/>
              <a:t>Estimado_pm25 = Funcion calcular valor pm2.5 en (longitud, latitud)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Estimado_AQI = calcular el valor del AQI (Estimado_pm25)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Recomendación_AQI = recomendador(AQI, edad)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Enviar un response con (Estimado_AQI;Recomendación_AQI)</a:t>
            </a:r>
          </a:p>
          <a:p>
            <a:pPr marL="342900" indent="-342900">
              <a:buAutoNum type="arabicPeriod"/>
            </a:pPr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18A1ED-A6B0-3745-B6E3-8126ED97A072}"/>
              </a:ext>
            </a:extLst>
          </p:cNvPr>
          <p:cNvSpPr txBox="1"/>
          <p:nvPr/>
        </p:nvSpPr>
        <p:spPr>
          <a:xfrm>
            <a:off x="7792494" y="1414562"/>
            <a:ext cx="4200214" cy="25853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Estimado_pm25</a:t>
            </a:r>
          </a:p>
          <a:p>
            <a:endParaRPr lang="es-CO"/>
          </a:p>
          <a:p>
            <a:pPr marL="342900" indent="-342900">
              <a:buFont typeface="+mj-lt"/>
              <a:buAutoNum type="arabicPeriod"/>
            </a:pPr>
            <a:r>
              <a:rPr lang="es-CO"/>
              <a:t>Capturar el data en JSON de SIATA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Extraer los datos de las estaciones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Validar la calidad de datos de las muestras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Hacer la función de interpolación 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Devolver el valor de pm25 para la posición de longitud y latitud</a:t>
            </a:r>
          </a:p>
        </p:txBody>
      </p:sp>
    </p:spTree>
    <p:extLst>
      <p:ext uri="{BB962C8B-B14F-4D97-AF65-F5344CB8AC3E}">
        <p14:creationId xmlns:p14="http://schemas.microsoft.com/office/powerpoint/2010/main" val="130382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SERVER AWS</a:t>
            </a:r>
          </a:p>
        </p:txBody>
      </p:sp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21" y="5271788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7644" y="5307714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0164" y="4028228"/>
            <a:ext cx="914400" cy="914400"/>
          </a:xfrm>
          <a:prstGeom prst="rect">
            <a:avLst/>
          </a:prstGeom>
        </p:spPr>
      </p:pic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5044562" y="5372590"/>
            <a:ext cx="702581" cy="4760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3098992" y="4902456"/>
            <a:ext cx="259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DATA – CACHE + MODELO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4173849" y="622905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5812121" y="6229051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MODELO</a:t>
            </a:r>
          </a:p>
        </p:txBody>
      </p:sp>
      <p:sp>
        <p:nvSpPr>
          <p:cNvPr id="60" name="Marco 59">
            <a:extLst>
              <a:ext uri="{FF2B5EF4-FFF2-40B4-BE49-F238E27FC236}">
                <a16:creationId xmlns:a16="http://schemas.microsoft.com/office/drawing/2014/main" id="{0B77B95F-7D9F-AA43-80F0-DEF90A3127FE}"/>
              </a:ext>
            </a:extLst>
          </p:cNvPr>
          <p:cNvSpPr/>
          <p:nvPr/>
        </p:nvSpPr>
        <p:spPr>
          <a:xfrm>
            <a:off x="113613" y="4069640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9EEE859-1D93-F04A-81EB-AA3FFE79CA64}"/>
              </a:ext>
            </a:extLst>
          </p:cNvPr>
          <p:cNvSpPr txBox="1"/>
          <p:nvPr/>
        </p:nvSpPr>
        <p:spPr>
          <a:xfrm>
            <a:off x="332372" y="6155618"/>
            <a:ext cx="19413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AWS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DF0F82-50CF-CF42-98FD-69A58F0580A2}"/>
              </a:ext>
            </a:extLst>
          </p:cNvPr>
          <p:cNvSpPr txBox="1"/>
          <p:nvPr/>
        </p:nvSpPr>
        <p:spPr>
          <a:xfrm>
            <a:off x="332371" y="1436014"/>
            <a:ext cx="733969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Cuando reciba un post</a:t>
            </a:r>
          </a:p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Capturar longitud, latitud, edad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Estimado_pm25 = Funcion calcular valor pm2.5 en (longitud, latitud)</a:t>
            </a:r>
          </a:p>
          <a:p>
            <a:pPr marL="342900" indent="-342900">
              <a:buAutoNum type="arabicPeriod"/>
            </a:pPr>
            <a:r>
              <a:rPr lang="es-CO"/>
              <a:t>Estimado_AQI = calcular el valor del AQI (Estimado_pm25)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Recomendación_AQI = recomendador(AQI, edad)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Enviar un response con (Estimado_AQI;Recomendación_AQI)</a:t>
            </a:r>
          </a:p>
          <a:p>
            <a:pPr marL="342900" indent="-342900">
              <a:buAutoNum type="arabicPeriod"/>
            </a:pPr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18A1ED-A6B0-3745-B6E3-8126ED97A072}"/>
              </a:ext>
            </a:extLst>
          </p:cNvPr>
          <p:cNvSpPr txBox="1"/>
          <p:nvPr/>
        </p:nvSpPr>
        <p:spPr>
          <a:xfrm>
            <a:off x="7792494" y="1414562"/>
            <a:ext cx="4200214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Estimado_AQI</a:t>
            </a:r>
          </a:p>
          <a:p>
            <a:endParaRPr lang="es-CO"/>
          </a:p>
          <a:p>
            <a:pPr marL="342900" indent="-342900">
              <a:buFont typeface="+mj-lt"/>
              <a:buAutoNum type="arabicPeriod"/>
            </a:pPr>
            <a:r>
              <a:rPr lang="es-CO"/>
              <a:t>Capturar el dato de pm25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Aplicar el modelo AQI visto en clase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Devolver el valor AQI</a:t>
            </a:r>
          </a:p>
        </p:txBody>
      </p:sp>
    </p:spTree>
    <p:extLst>
      <p:ext uri="{BB962C8B-B14F-4D97-AF65-F5344CB8AC3E}">
        <p14:creationId xmlns:p14="http://schemas.microsoft.com/office/powerpoint/2010/main" val="4079319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SERVER AWS</a:t>
            </a:r>
          </a:p>
        </p:txBody>
      </p:sp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21" y="5271788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7644" y="5307714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0164" y="4028228"/>
            <a:ext cx="914400" cy="914400"/>
          </a:xfrm>
          <a:prstGeom prst="rect">
            <a:avLst/>
          </a:prstGeom>
        </p:spPr>
      </p:pic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5044562" y="5372590"/>
            <a:ext cx="702581" cy="4760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3098992" y="4902456"/>
            <a:ext cx="259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DATA – CACHE + MODELO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4173849" y="622905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5812121" y="6229051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MODELO</a:t>
            </a:r>
          </a:p>
        </p:txBody>
      </p:sp>
      <p:sp>
        <p:nvSpPr>
          <p:cNvPr id="60" name="Marco 59">
            <a:extLst>
              <a:ext uri="{FF2B5EF4-FFF2-40B4-BE49-F238E27FC236}">
                <a16:creationId xmlns:a16="http://schemas.microsoft.com/office/drawing/2014/main" id="{0B77B95F-7D9F-AA43-80F0-DEF90A3127FE}"/>
              </a:ext>
            </a:extLst>
          </p:cNvPr>
          <p:cNvSpPr/>
          <p:nvPr/>
        </p:nvSpPr>
        <p:spPr>
          <a:xfrm>
            <a:off x="113613" y="4069640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9EEE859-1D93-F04A-81EB-AA3FFE79CA64}"/>
              </a:ext>
            </a:extLst>
          </p:cNvPr>
          <p:cNvSpPr txBox="1"/>
          <p:nvPr/>
        </p:nvSpPr>
        <p:spPr>
          <a:xfrm>
            <a:off x="332372" y="6155618"/>
            <a:ext cx="19413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AWS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DF0F82-50CF-CF42-98FD-69A58F0580A2}"/>
              </a:ext>
            </a:extLst>
          </p:cNvPr>
          <p:cNvSpPr txBox="1"/>
          <p:nvPr/>
        </p:nvSpPr>
        <p:spPr>
          <a:xfrm>
            <a:off x="332371" y="1436014"/>
            <a:ext cx="733969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Cuando reciba un post</a:t>
            </a:r>
          </a:p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Capturar longitud, latitud, edad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Estimado_pm25 = Funcion calcular valor pm2.5 en (longitud, latitud)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Estimado_AQI = calcular el valor del AQI (Estimado_pm25)</a:t>
            </a:r>
          </a:p>
          <a:p>
            <a:pPr marL="342900" indent="-342900">
              <a:buAutoNum type="arabicPeriod"/>
            </a:pPr>
            <a:r>
              <a:rPr lang="es-CO"/>
              <a:t>Recomendación_AQI = recomendador(AQI, edad)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Enviar un response con (Estimado_AQI;Recomendación_AQI)</a:t>
            </a:r>
          </a:p>
          <a:p>
            <a:pPr marL="342900" indent="-342900">
              <a:buAutoNum type="arabicPeriod"/>
            </a:pPr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18A1ED-A6B0-3745-B6E3-8126ED97A072}"/>
              </a:ext>
            </a:extLst>
          </p:cNvPr>
          <p:cNvSpPr txBox="1"/>
          <p:nvPr/>
        </p:nvSpPr>
        <p:spPr>
          <a:xfrm>
            <a:off x="7792494" y="1414562"/>
            <a:ext cx="4200214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Recomendación_AQI</a:t>
            </a:r>
          </a:p>
          <a:p>
            <a:endParaRPr lang="es-CO"/>
          </a:p>
          <a:p>
            <a:pPr marL="342900" indent="-342900">
              <a:buFont typeface="+mj-lt"/>
              <a:buAutoNum type="arabicPeriod"/>
            </a:pPr>
            <a:r>
              <a:rPr lang="es-CO"/>
              <a:t>Tomar AQI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Tomar Edad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Verificar en los casos de recomendación cuál valor devolver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Devolver el valor texto de la recomendación</a:t>
            </a:r>
          </a:p>
        </p:txBody>
      </p:sp>
    </p:spTree>
    <p:extLst>
      <p:ext uri="{BB962C8B-B14F-4D97-AF65-F5344CB8AC3E}">
        <p14:creationId xmlns:p14="http://schemas.microsoft.com/office/powerpoint/2010/main" val="1458422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8DC77C-1F3A-0C48-A9C4-D5D768AC3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/>
              <a:t>SERVER AWS</a:t>
            </a:r>
          </a:p>
        </p:txBody>
      </p:sp>
      <p:pic>
        <p:nvPicPr>
          <p:cNvPr id="8" name="Gráfico 7" descr="Engranajes">
            <a:extLst>
              <a:ext uri="{FF2B5EF4-FFF2-40B4-BE49-F238E27FC236}">
                <a16:creationId xmlns:a16="http://schemas.microsoft.com/office/drawing/2014/main" id="{EED87588-E840-8A43-80EE-5B60EEF940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12121" y="5271788"/>
            <a:ext cx="914400" cy="914400"/>
          </a:xfrm>
          <a:prstGeom prst="rect">
            <a:avLst/>
          </a:prstGeom>
        </p:spPr>
      </p:pic>
      <p:pic>
        <p:nvPicPr>
          <p:cNvPr id="24" name="Gráfico 23" descr="Servidor">
            <a:extLst>
              <a:ext uri="{FF2B5EF4-FFF2-40B4-BE49-F238E27FC236}">
                <a16:creationId xmlns:a16="http://schemas.microsoft.com/office/drawing/2014/main" id="{3237DF04-9C47-3B4A-8BC6-D7992BEBE4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7644" y="5307714"/>
            <a:ext cx="914400" cy="914400"/>
          </a:xfrm>
          <a:prstGeom prst="rect">
            <a:avLst/>
          </a:prstGeom>
        </p:spPr>
      </p:pic>
      <p:pic>
        <p:nvPicPr>
          <p:cNvPr id="31" name="Gráfico 30" descr="Base de datos">
            <a:extLst>
              <a:ext uri="{FF2B5EF4-FFF2-40B4-BE49-F238E27FC236}">
                <a16:creationId xmlns:a16="http://schemas.microsoft.com/office/drawing/2014/main" id="{5E51AFE6-1405-594A-A745-C9735754DE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60164" y="4028228"/>
            <a:ext cx="914400" cy="914400"/>
          </a:xfrm>
          <a:prstGeom prst="rect">
            <a:avLst/>
          </a:prstGeom>
        </p:spPr>
      </p:pic>
      <p:sp>
        <p:nvSpPr>
          <p:cNvPr id="52" name="Flecha derecha 51">
            <a:extLst>
              <a:ext uri="{FF2B5EF4-FFF2-40B4-BE49-F238E27FC236}">
                <a16:creationId xmlns:a16="http://schemas.microsoft.com/office/drawing/2014/main" id="{F61B90A5-ADBD-D045-BF67-EFC3AA7A9312}"/>
              </a:ext>
            </a:extLst>
          </p:cNvPr>
          <p:cNvSpPr/>
          <p:nvPr/>
        </p:nvSpPr>
        <p:spPr>
          <a:xfrm>
            <a:off x="5044562" y="5372590"/>
            <a:ext cx="702581" cy="47608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7E8FA5C-40D8-E246-8D9E-9AF90A9CFFB0}"/>
              </a:ext>
            </a:extLst>
          </p:cNvPr>
          <p:cNvSpPr txBox="1"/>
          <p:nvPr/>
        </p:nvSpPr>
        <p:spPr>
          <a:xfrm>
            <a:off x="3098992" y="4902456"/>
            <a:ext cx="2592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DATA – CACHE + MODELO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A3FE83-D71D-B349-B10D-9B33AB80B2BB}"/>
              </a:ext>
            </a:extLst>
          </p:cNvPr>
          <p:cNvSpPr txBox="1"/>
          <p:nvPr/>
        </p:nvSpPr>
        <p:spPr>
          <a:xfrm>
            <a:off x="4173849" y="6229051"/>
            <a:ext cx="506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ETL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B2DB0872-5E85-6E4D-B8A8-69761A063198}"/>
              </a:ext>
            </a:extLst>
          </p:cNvPr>
          <p:cNvSpPr txBox="1"/>
          <p:nvPr/>
        </p:nvSpPr>
        <p:spPr>
          <a:xfrm>
            <a:off x="5812121" y="6229051"/>
            <a:ext cx="10340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/>
              <a:t>MODELO</a:t>
            </a:r>
          </a:p>
        </p:txBody>
      </p:sp>
      <p:sp>
        <p:nvSpPr>
          <p:cNvPr id="60" name="Marco 59">
            <a:extLst>
              <a:ext uri="{FF2B5EF4-FFF2-40B4-BE49-F238E27FC236}">
                <a16:creationId xmlns:a16="http://schemas.microsoft.com/office/drawing/2014/main" id="{0B77B95F-7D9F-AA43-80F0-DEF90A3127FE}"/>
              </a:ext>
            </a:extLst>
          </p:cNvPr>
          <p:cNvSpPr/>
          <p:nvPr/>
        </p:nvSpPr>
        <p:spPr>
          <a:xfrm>
            <a:off x="113613" y="4069640"/>
            <a:ext cx="7558450" cy="2594033"/>
          </a:xfrm>
          <a:prstGeom prst="frame">
            <a:avLst>
              <a:gd name="adj1" fmla="val 105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D9EEE859-1D93-F04A-81EB-AA3FFE79CA64}"/>
              </a:ext>
            </a:extLst>
          </p:cNvPr>
          <p:cNvSpPr txBox="1"/>
          <p:nvPr/>
        </p:nvSpPr>
        <p:spPr>
          <a:xfrm>
            <a:off x="332372" y="6155618"/>
            <a:ext cx="1941365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s-CO">
                <a:solidFill>
                  <a:schemeClr val="bg1"/>
                </a:solidFill>
              </a:rPr>
              <a:t>PLATAFORMA AWS</a:t>
            </a: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F0DF0F82-50CF-CF42-98FD-69A58F0580A2}"/>
              </a:ext>
            </a:extLst>
          </p:cNvPr>
          <p:cNvSpPr txBox="1"/>
          <p:nvPr/>
        </p:nvSpPr>
        <p:spPr>
          <a:xfrm>
            <a:off x="332371" y="1436014"/>
            <a:ext cx="7339691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Cuando reciba un post</a:t>
            </a:r>
          </a:p>
          <a:p>
            <a:r>
              <a:rPr lang="es-CO">
                <a:solidFill>
                  <a:schemeClr val="bg2">
                    <a:lumMod val="90000"/>
                  </a:schemeClr>
                </a:solidFill>
              </a:rPr>
              <a:t>Capturar longitud, latitud, edad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Estimado_pm25 = Funcion calcular valor pm2.5 en (longitud, latitud)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>
                    <a:lumMod val="90000"/>
                  </a:schemeClr>
                </a:solidFill>
              </a:rPr>
              <a:t>Estimado_AQI = calcular el valor del AQI (Estimado_pm25)</a:t>
            </a:r>
          </a:p>
          <a:p>
            <a:pPr marL="342900" indent="-342900">
              <a:buAutoNum type="arabicPeriod"/>
            </a:pPr>
            <a:r>
              <a:rPr lang="es-CO">
                <a:solidFill>
                  <a:schemeClr val="bg2"/>
                </a:solidFill>
              </a:rPr>
              <a:t>Recomendación_AQI = recomendador(AQI, edad)</a:t>
            </a:r>
          </a:p>
          <a:p>
            <a:pPr marL="342900" indent="-342900">
              <a:buAutoNum type="arabicPeriod"/>
            </a:pPr>
            <a:r>
              <a:rPr lang="es-CO"/>
              <a:t>Enviar un response con (Estimado_AQI;Recomendación_AQI)</a:t>
            </a:r>
          </a:p>
          <a:p>
            <a:pPr marL="342900" indent="-342900">
              <a:buAutoNum type="arabicPeriod"/>
            </a:pPr>
            <a:endParaRPr lang="es-CO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C18A1ED-A6B0-3745-B6E3-8126ED97A072}"/>
              </a:ext>
            </a:extLst>
          </p:cNvPr>
          <p:cNvSpPr txBox="1"/>
          <p:nvPr/>
        </p:nvSpPr>
        <p:spPr>
          <a:xfrm>
            <a:off x="7792494" y="1414562"/>
            <a:ext cx="420021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/>
              <a:t>Enviar response</a:t>
            </a:r>
          </a:p>
          <a:p>
            <a:endParaRPr lang="es-CO"/>
          </a:p>
          <a:p>
            <a:pPr marL="342900" indent="-342900">
              <a:buFont typeface="+mj-lt"/>
              <a:buAutoNum type="arabicPeriod"/>
            </a:pPr>
            <a:r>
              <a:rPr lang="es-CO"/>
              <a:t>Concatenar AQI ; Recomendación_AQI</a:t>
            </a:r>
          </a:p>
          <a:p>
            <a:pPr marL="342900" indent="-342900">
              <a:buFont typeface="+mj-lt"/>
              <a:buAutoNum type="arabicPeriod"/>
            </a:pPr>
            <a:r>
              <a:rPr lang="es-CO"/>
              <a:t>Enviar la respuesta por el http</a:t>
            </a:r>
          </a:p>
        </p:txBody>
      </p:sp>
    </p:spTree>
    <p:extLst>
      <p:ext uri="{BB962C8B-B14F-4D97-AF65-F5344CB8AC3E}">
        <p14:creationId xmlns:p14="http://schemas.microsoft.com/office/powerpoint/2010/main" val="148905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FE80BC-9731-034E-B110-02E791687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/>
              <a:t>Para la toma de Decisiones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F69BAD-E1A2-CA43-B6D2-AAB796E69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>
                <a:hlinkClick r:id="rId2"/>
              </a:rPr>
              <a:t>The AQI Equation - Air Quality and AQI Info - AirNow Discussion Forum (airnowtech.org)</a:t>
            </a:r>
            <a:endParaRPr lang="es-CO"/>
          </a:p>
          <a:p>
            <a:endParaRPr lang="es-CO"/>
          </a:p>
          <a:p>
            <a:r>
              <a:rPr lang="es-CO">
                <a:hlinkClick r:id="rId3"/>
              </a:rPr>
              <a:t>AQI Calculator Concentration | AirNow.gov</a:t>
            </a:r>
            <a:endParaRPr lang="es-CO"/>
          </a:p>
          <a:p>
            <a:endParaRPr lang="es-CO"/>
          </a:p>
          <a:p>
            <a:r>
              <a:rPr lang="es-CO">
                <a:hlinkClick r:id="rId4"/>
              </a:rPr>
              <a:t>Air quality index – Wikipedia</a:t>
            </a:r>
            <a:r>
              <a:rPr lang="es-CO"/>
              <a:t> </a:t>
            </a:r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4143067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52283bc-ba04-4ab8-9f6b-1f96a96755cd" xsi:nil="true"/>
    <lcf76f155ced4ddcb4097134ff3c332f xmlns="a56da131-51c8-474b-82c4-87a2265dd7d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B07D2D7BDD7E4687715376EFEF2C48" ma:contentTypeVersion="10" ma:contentTypeDescription="Create a new document." ma:contentTypeScope="" ma:versionID="1d596e04befbebf57d47d11c830699ac">
  <xsd:schema xmlns:xsd="http://www.w3.org/2001/XMLSchema" xmlns:xs="http://www.w3.org/2001/XMLSchema" xmlns:p="http://schemas.microsoft.com/office/2006/metadata/properties" xmlns:ns2="a56da131-51c8-474b-82c4-87a2265dd7dc" xmlns:ns3="152283bc-ba04-4ab8-9f6b-1f96a96755cd" targetNamespace="http://schemas.microsoft.com/office/2006/metadata/properties" ma:root="true" ma:fieldsID="7b2bdf44b47fba4ad4975a9fdc367a6d" ns2:_="" ns3:_="">
    <xsd:import namespace="a56da131-51c8-474b-82c4-87a2265dd7dc"/>
    <xsd:import namespace="152283bc-ba04-4ab8-9f6b-1f96a96755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56da131-51c8-474b-82c4-87a2265dd7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9eb28b8-418d-4e4f-834a-21a5a75d3e4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2283bc-ba04-4ab8-9f6b-1f96a96755c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a5ddc29-0582-4f0f-a49e-9566dd7b31c6}" ma:internalName="TaxCatchAll" ma:showField="CatchAllData" ma:web="152283bc-ba04-4ab8-9f6b-1f96a96755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277DBCC-4C22-4DE9-95BE-6D7A4A1D6EA5}">
  <ds:schemaRefs>
    <ds:schemaRef ds:uri="068c6bb6-37d1-40ba-8cf9-73eea7e05ddb"/>
    <ds:schemaRef ds:uri="4e7d5fc5-bb5c-40ec-af1a-c09e8288b271"/>
    <ds:schemaRef ds:uri="6829990f-4afb-4f2e-980d-658e49402902"/>
    <ds:schemaRef ds:uri="afb3ca26-d249-4ae3-8351-eb37cc14c99e"/>
    <ds:schemaRef ds:uri="b3f3823a-4102-46a2-8ce0-0196d5f885f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1083DF1-BB99-41E9-A4F1-34E2F160A2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C768D9C-6E17-40E3-AA12-61AF48BC9AB9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Tema de Office</vt:lpstr>
      <vt:lpstr>PROYECTO APLICADO ENTRENAMIENTO</vt:lpstr>
      <vt:lpstr>Temas de hoy</vt:lpstr>
      <vt:lpstr>ARQUITECTURA</vt:lpstr>
      <vt:lpstr>CAPTURANDO LA DATA DE PM2.5</vt:lpstr>
      <vt:lpstr>CAPTURANDO LA DATA DE PM2.5</vt:lpstr>
      <vt:lpstr>CAPTURANDO LA DATA DE PM2.5</vt:lpstr>
      <vt:lpstr>APP MOVIL /PAGÍNA WEB</vt:lpstr>
      <vt:lpstr>SERVER AWS</vt:lpstr>
      <vt:lpstr>SERVER AWS</vt:lpstr>
      <vt:lpstr>SERVER AWS</vt:lpstr>
      <vt:lpstr>SERVER AWS</vt:lpstr>
      <vt:lpstr>SERVER AWS</vt:lpstr>
      <vt:lpstr>Para la toma de Decisiones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Virtual 17 de marzo</dc:title>
  <dc:creator>Leonardo Betancur Agudelo</dc:creator>
  <cp:revision>1</cp:revision>
  <dcterms:created xsi:type="dcterms:W3CDTF">2020-03-17T13:16:21Z</dcterms:created>
  <dcterms:modified xsi:type="dcterms:W3CDTF">2025-04-09T15:44:14Z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0x0101004AB07D2D7BDD7E4687715376EFEF2C48</vt:lpwstr>
  </property>
  <property fmtid="{D5CDD505-2E9C-101B-9397-08002B2CF9AE}" pid="3" name="MediaServiceImageTags">
    <vt:lpwstr/>
  </property>
  <property fmtid="{D5CDD505-2E9C-101B-9397-08002B2CF9AE}" pid="4" name="Order">
    <vt:r8>1500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